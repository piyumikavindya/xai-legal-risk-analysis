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your supervisor and the project title. One sentence pitch: a system that tells a reviewer which contract clauses are risky, shows the exact dated law behind each flag, and warns when that law is later amended.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guide (about 10 minutes, scale it to your slot). The order follows the template: context and evidence first, then the aim, then the literature and the gap, then the solution, methodology, ethics, schedule and risk. Tell the panel the story in one line: today a contract is checked once; this project makes the check continue as the law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legal AI, specifically contract analysis. Users: in-house counsel and compliance officers who must check each clause against the law at review time and revisit signed contracts whenever the law changes. Challenge: existing tools stop at point-in-time scoring, so a clause can become non-compliant without anyone being told. Significance: this is not only an NLP classification task. It combines classification, explainability and temporal data modelling, and the errors are asymmetric (Hacker et al., 2020): a missed risk can expose an organisation to liability that surfaces months or years later. Sri Lanka frequently introduces urgent changes through Extraordinary Gazettes, which makes the problem concrete and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numbers. Barbosa et al. (2026) benchmarked rule-based, XGBoost, Legal-BERT and LLM systems on 5,247 contracts across 3 jurisdictions: even Legal-BERT lost 28.4% when moved from US to UK contracts and missed 77% of multi-section cross-reference chains. Liu et al. (2025, ContractEval) found near-zero F1 on rare high-stakes clause types. The applied tools (ContractGuard, the compliance checker, Legal Analyzer) are all point-in-time. The datasets confirm the gap: CUAD, LEDGAR and ContractNLI label clauses but cite no statute, while the Sri Lanka Acts and Gazettes (Senaratna et al., 2026) hold dated law with no clause labels. Then read the problem statement slowly: explanations traceable to a dated provision, plus detection of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aim in one breath: design, develop and evaluate an explainable system for clause-level risk assessment and temporal compliance monitoring. Six objectives map to the project stages: analysis, requirements, architecture, implementation with baselines, evaluation with ablations, and the legal and ethical analysis. Success is defined by three hypotheses rather than invented targets: H1 the legal-domain transformer beats both baselines on macro-F1; H2 argumentation-informed explanations are at least as faithful as attribution-only ones while adding legal traceability; H3 the temporal monitor detects a majority of simulated amendments at an acceptable false alarm rate. Mention that the numeric thresholds will be fixed on validation data only, never on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is organised by theme, not paper by paper. Theme 1, approaches: legal-domain transformers, LLM and multi-agent RAG tools, and two XAI directions (attribution and argumentation). Theme 2, data: CUAD, LEDGAR and ContractNLI label contract clauses, while the Sri Lanka Acts, Bills and Extraordinary Gazettes supply dated law. Theme 3, evaluation: macro-F1 per class, calibration, and faithfulness and stability for explanations. Theme 4, limitations, is the bridge to the gap: everything is checked against one static version of the law and explanation quality is never treated as something that can expire.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applied systems from my literature survey. A: ContractGuard (Gangadhar et al., 2026) is the most polished interface and gives severity tiers, but it relies on prompting a black-box LLM and reports no precision, recall or F1. B: the compliance checker (Prakash et al., 2025) maps clauses to a regulatory knowledge base, but its 92% accuracy is described as assumed and the knowledge base is static. C: Legal Analyzer (Keerthana and Kumaresh, 2025) is the closest to my classifier: fine-tuned BERT on the 41 CUAD classes with SHAP and LIME. It still has no statute link, no calibration and no faithfulness test. Together they confirm the idea is feasible and commercially attractive, but they do not show a working, evaluated temporal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gap slide. Technical gap: no versioned clause-to-provision linking engine, no bridge between contract corpora (CUAD, LEDGAR, ContractNLI) and Sri Lankan regulatory corpora, no calibrated escalation, no tested explanation module and no reproducible evaluation harness for compliance drift. Research gap: legal explainability principles (Mansi et al., 2025; Prajescu and Confalonieri, 2025) have never been tested on a working clause classifier, and no study treats an explanation's validity as something that can expire. Compliance drift itself has never been formally defined or measured. The right-hand panel shows the requirements that come directly from the gap: three Must functional requirements, one Should for re-evaluation, and two non-functional requirements for reproducibility and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Contracts and regulatory documents enter through separate ingestion paths and are segmented into clauses and dated provisions. A retrieval layer links each clause to its most relevant provision. A legal-domain transformer classifies risk and temperature scaling calibrates the confidence, with a defer threshold deciding whether a clause is flagged, escalated or passed. The explanation layer produces two outputs for comparison: an attribution explanation (SHAP or attention) and an argumentation-informed explanation that states the risk category, the linked provision, its effective date and a short justification. The temporal monitor, highlighted in gold, compares the provision version active at review with the current version and raises a compliance-drift alert when they differ. Each component can be swapped independently, which makes the ablation studies possible. It is a decision-support aid with a human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in the language of Saunders' Research Onion: pragmatist philosophy because I am evaluating an artefact against practical and legal usefulness; deductive approach with iterative refinement of the explanation format; quantitative method with an optional small qualitative check if a legal reviewer is available and ethical approval is granted; design-science strategy; cross-sectional time horizon. Pipeline: clauses are segmented using CUAD and LEDGAR boundaries, regulatory documents are split into dated sections, splits are made at document level with near-duplicate detection, and transforms are fitted on the training set only. Hyperparameters use a bounded random search on the validation set only, and the test set is evaluated once. Baselines let me measure the value of each component: a TF-IDF classifier, a general transformer and a snapshot-only checker. If compute is short, a smaller encoder is the fallback. An early feasibility check already loaded CUAD annotations and a small Sri Lanka Acts sample and trained a TF-IDF baseline on a small CUAD subset without errors, which shows feasibility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Traceability from question to evidence. RQ1 compares the legal-domain transformer with a TF-IDF classifier and a general transformer, reported as macro-F1 with class-level precision and recall because CUAD and LEDGAR are heavily imbalanced. RQ2 compares attribution and argumentation-informed explanations using a deletion and insertion faithfulness test and a paraphrase stability test. RQ3 injects simulated amendments by substituting an earlier dated version of a linked provision and measures whether the monitor re-flags the affected clauses, reported as drift-detection precision and recall. RQ4 is optional: structured feedback from a legal reviewer, only if ethical approval and access permit. Ablations remove calibration, the argumentation layer and the temporal monitor in turn to show each one's contribution. Hypotheses H1 to H3 link back to slide 4. Be clear that negative results will be reported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a model trained mainly on international English-language corpora may be less reliable on Sri Lankan legal style, so I will report that limitation rather than imply it away, and the interface labels every output as a flag for review to reduce automation bias. Legal: CUAD and LEDGAR are CC BY 4.0, ContractNLI is CC BY-NC (fine for academic use), and the Sri Lankan collections are MIT. Any local example contracts will be anonymised or non-confidential templates, and processing considers the Personal Data Protection Act No. 9 of 2022 and the Electronic Transactions Act No. 19 of 2006. Ethical and professional: faithfulness testing, explicit confidence, honest reporting of negative results, and RQ4 reviewer feedback only after ethical approval. Generative AI was used only to brainstorm search terms and check clarity of text I had written; I keep an AI-use register and verified every citation against its source. Sustainability (my framing, derived from the compute plan and modular design): efficient baselines and a smaller-encoder fallback keep compute modest, the tool supports human reviewers, and modular, versioned, logged work stays reproducible and maintainable.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20 weeks in seven work packages, each ending with milestone evidence. Weeks 1 to 3 settle scope, data access and requirements. Weeks 4 to 6 build the data pipeline and the baselines. Weeks 7 to 10 implement the legal-domain classifier and the retrieval that links clauses to provisions. Weeks 11 to 13 add calibration and explanation generation and produce the faithfulness and stability results. Weeks 14 to 16 build and evaluate the temporal monitor. Weeks 17 and 18 deliver the demonstrator and the ablation studies. Weeks 19 and 20 are analysis, writing and verification. Work follows two-week Agile sprints, tracked on a Kanban board with fortnightly milestone reviews with my supervisor, and every task links to a specific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technical risk is inaccurate linking between clauses and provisions: likelihood medium, impact high, so I will manually verify a sample of links early and can fall back to a smaller curated subset of provisions. Compute is the second risk, handled by a smaller encoder and early memory profiling. RQ4 depends on access to a legal reviewer and ethical approval, so it is optional and the claim is scoped if feedback is unavailable. Document-level leakage is unlikely but would be critical, so automated split-integrity checks run before every training run. Finally, Generative AI misuse is controlled through the AI-use log and verification of all assisted text and code. End by thanking the panel and inviting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Harvard style, part 1 of 2. All entries are taken from the literature survey and the proposal reference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Harvard style, part 2 of 2. Also acknowledge European Union (2016) Regulation (EU) 2016/679 and European Union (2024) Regulation (EU) 2024/1689 if asked about the transparency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2E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220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28801"/>
            <a:ext cx="10566400" cy="4216399"/>
          </a:xfrm>
          <a:prstGeom prst="rect">
            <a:avLst/>
          </a:prstGeom>
          <a:noFill/>
          <a:ln/>
        </p:spPr>
        <p:txBody>
          <a:bodyPr wrap="square" lIns="0" tIns="0" rIns="0" bIns="0" rtlCol="0" anchor="t"/>
          <a:lstStyle>
            <a:lvl1pPr algn="l" indent="0" marL="0">
              <a:lnSpc>
                <a:spcPct val="140000"/>
              </a:lnSpc>
              <a:buNone/>
              <a:defRPr lang="en-US" sz="1600" dirty="0">
                <a:solidFill>
                  <a:srgbClr val="1220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2E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220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28801"/>
            <a:ext cx="10566400" cy="4216399"/>
          </a:xfrm>
          <a:prstGeom prst="rect">
            <a:avLst/>
          </a:prstGeom>
          <a:noFill/>
          <a:ln/>
        </p:spPr>
        <p:txBody>
          <a:bodyPr wrap="square" lIns="0" tIns="0" rIns="0" bIns="0" rtlCol="0" anchor="t"/>
          <a:lstStyle>
            <a:lvl1pPr algn="l" indent="0" marL="0">
              <a:lnSpc>
                <a:spcPct val="140000"/>
              </a:lnSpc>
              <a:buNone/>
              <a:defRPr lang="en-US" sz="1600" dirty="0">
                <a:solidFill>
                  <a:srgbClr val="1220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E0B25A"/>
                </a:solidFill>
                <a:latin typeface="IBM Plex Sans" pitchFamily="34" charset="0"/>
                <a:ea typeface="IBM Plex Sans" pitchFamily="34" charset="-122"/>
                <a:cs typeface="IBM Plex Sans" pitchFamily="34" charset="-120"/>
              </a:rPr>
              <a:t>FINAL YEAR PROJECT · PROJECT PROPOSAL</a:t>
            </a:r>
            <a:endParaRPr lang="en-US" sz="1400" dirty="0"/>
          </a:p>
        </p:txBody>
      </p:sp>
      <p:sp>
        <p:nvSpPr>
          <p:cNvPr id="3" name="Text 1"/>
          <p:cNvSpPr/>
          <p:nvPr>
            <p:ph type="title"/>
          </p:nvPr>
        </p:nvSpPr>
        <p:spPr>
          <a:xfrm>
            <a:off x="812800" y="1661716"/>
            <a:ext cx="10883392" cy="1451769"/>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4EFE4"/>
                </a:solidFill>
                <a:latin typeface="EB Garamond" pitchFamily="18" charset="0"/>
                <a:ea typeface="EB Garamond" pitchFamily="18" charset="-122"/>
                <a:cs typeface="EB Garamond" pitchFamily="18" charset="-120"/>
              </a:rPr>
              <a:t>Explainable AI for Temporal Legal Contract Compliance Monitoring</a:t>
            </a:r>
            <a:endParaRPr lang="en-US" sz="5200" dirty="0"/>
          </a:p>
        </p:txBody>
      </p:sp>
      <p:sp>
        <p:nvSpPr>
          <p:cNvPr id="4" name="Text 2"/>
          <p:cNvSpPr/>
          <p:nvPr/>
        </p:nvSpPr>
        <p:spPr>
          <a:xfrm>
            <a:off x="812800" y="3291284"/>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2E0"/>
                </a:solidFill>
                <a:latin typeface="IBM Plex Sans" pitchFamily="34" charset="0"/>
                <a:ea typeface="IBM Plex Sans" pitchFamily="34" charset="-122"/>
                <a:cs typeface="IBM Plex Sans" pitchFamily="34" charset="-120"/>
              </a:rPr>
              <a:t>Clause-level risk assessment with explanations traceable to dated legal provisions, and alerts when the law changes</a:t>
            </a:r>
            <a:endParaRPr lang="en-US" sz="1800" dirty="0"/>
          </a:p>
        </p:txBody>
      </p:sp>
      <p:sp>
        <p:nvSpPr>
          <p:cNvPr id="5" name="Shape 3"/>
          <p:cNvSpPr/>
          <p:nvPr/>
        </p:nvSpPr>
        <p:spPr>
          <a:xfrm>
            <a:off x="812800" y="4537710"/>
            <a:ext cx="10566400" cy="0"/>
          </a:xfrm>
          <a:prstGeom prst="line">
            <a:avLst/>
          </a:prstGeom>
          <a:noFill/>
          <a:ln w="12700">
            <a:solidFill>
              <a:srgbClr val="E0B25A"/>
            </a:solidFill>
            <a:prstDash val="solid"/>
          </a:ln>
        </p:spPr>
      </p:sp>
      <p:sp>
        <p:nvSpPr>
          <p:cNvPr id="6" name="Text 4"/>
          <p:cNvSpPr/>
          <p:nvPr/>
        </p:nvSpPr>
        <p:spPr>
          <a:xfrm>
            <a:off x="812800" y="4744720"/>
            <a:ext cx="33502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B25A"/>
                </a:solidFill>
                <a:latin typeface="IBM Plex Sans" pitchFamily="34" charset="0"/>
                <a:ea typeface="IBM Plex Sans" pitchFamily="34" charset="-122"/>
                <a:cs typeface="IBM Plex Sans" pitchFamily="34" charset="-120"/>
              </a:rPr>
              <a:t>Student</a:t>
            </a:r>
            <a:endParaRPr lang="en-US" sz="1200" dirty="0"/>
          </a:p>
        </p:txBody>
      </p:sp>
      <p:sp>
        <p:nvSpPr>
          <p:cNvPr id="7" name="Text 5"/>
          <p:cNvSpPr/>
          <p:nvPr/>
        </p:nvSpPr>
        <p:spPr>
          <a:xfrm>
            <a:off x="812800" y="5008880"/>
            <a:ext cx="335028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EFE4"/>
                </a:solidFill>
                <a:latin typeface="IBM Plex Sans" pitchFamily="34" charset="0"/>
                <a:ea typeface="IBM Plex Sans" pitchFamily="34" charset="-122"/>
                <a:cs typeface="IBM Plex Sans" pitchFamily="34" charset="-120"/>
              </a:rPr>
              <a:t>H.G. Piyumi Kavindya Wickramarathna</a:t>
            </a:r>
            <a:endParaRPr lang="en-US" sz="1600" dirty="0"/>
          </a:p>
        </p:txBody>
      </p:sp>
      <p:sp>
        <p:nvSpPr>
          <p:cNvPr id="8" name="Text 6"/>
          <p:cNvSpPr/>
          <p:nvPr/>
        </p:nvSpPr>
        <p:spPr>
          <a:xfrm>
            <a:off x="812800" y="5628640"/>
            <a:ext cx="33502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IIT ID 20223048 · UoW ID w1959641</a:t>
            </a:r>
            <a:endParaRPr lang="en-US" sz="1200" dirty="0"/>
          </a:p>
        </p:txBody>
      </p:sp>
      <p:sp>
        <p:nvSpPr>
          <p:cNvPr id="9" name="Text 7"/>
          <p:cNvSpPr/>
          <p:nvPr/>
        </p:nvSpPr>
        <p:spPr>
          <a:xfrm>
            <a:off x="4675108" y="4744720"/>
            <a:ext cx="22617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B25A"/>
                </a:solidFill>
                <a:latin typeface="IBM Plex Sans" pitchFamily="34" charset="0"/>
                <a:ea typeface="IBM Plex Sans" pitchFamily="34" charset="-122"/>
                <a:cs typeface="IBM Plex Sans" pitchFamily="34" charset="-120"/>
              </a:rPr>
              <a:t>Supervisor</a:t>
            </a:r>
            <a:endParaRPr lang="en-US" sz="1200" dirty="0"/>
          </a:p>
        </p:txBody>
      </p:sp>
      <p:sp>
        <p:nvSpPr>
          <p:cNvPr id="10" name="Text 8"/>
          <p:cNvSpPr/>
          <p:nvPr/>
        </p:nvSpPr>
        <p:spPr>
          <a:xfrm>
            <a:off x="4675108" y="5008880"/>
            <a:ext cx="2261705"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EFE4"/>
                </a:solidFill>
                <a:latin typeface="IBM Plex Sans" pitchFamily="34" charset="0"/>
                <a:ea typeface="IBM Plex Sans" pitchFamily="34" charset="-122"/>
                <a:cs typeface="IBM Plex Sans" pitchFamily="34" charset="-120"/>
              </a:rPr>
              <a:t>Thamarasee Kapugamage</a:t>
            </a:r>
            <a:endParaRPr lang="en-US" sz="1600" dirty="0"/>
          </a:p>
        </p:txBody>
      </p:sp>
      <p:sp>
        <p:nvSpPr>
          <p:cNvPr id="11" name="Text 9"/>
          <p:cNvSpPr/>
          <p:nvPr/>
        </p:nvSpPr>
        <p:spPr>
          <a:xfrm>
            <a:off x="4675108" y="5628640"/>
            <a:ext cx="22617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Senior Lecturer (Grade II), IIT</a:t>
            </a:r>
            <a:endParaRPr lang="en-US" sz="1200" dirty="0"/>
          </a:p>
        </p:txBody>
      </p:sp>
      <p:sp>
        <p:nvSpPr>
          <p:cNvPr id="12" name="Text 10"/>
          <p:cNvSpPr/>
          <p:nvPr/>
        </p:nvSpPr>
        <p:spPr>
          <a:xfrm>
            <a:off x="7480538" y="4744720"/>
            <a:ext cx="40156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B25A"/>
                </a:solidFill>
                <a:latin typeface="IBM Plex Sans" pitchFamily="34" charset="0"/>
                <a:ea typeface="IBM Plex Sans" pitchFamily="34" charset="-122"/>
                <a:cs typeface="IBM Plex Sans" pitchFamily="34" charset="-120"/>
              </a:rPr>
              <a:t>Programme</a:t>
            </a:r>
            <a:endParaRPr lang="en-US" sz="1200" dirty="0"/>
          </a:p>
        </p:txBody>
      </p:sp>
      <p:sp>
        <p:nvSpPr>
          <p:cNvPr id="13" name="Text 11"/>
          <p:cNvSpPr/>
          <p:nvPr/>
        </p:nvSpPr>
        <p:spPr>
          <a:xfrm>
            <a:off x="7480538" y="5008880"/>
            <a:ext cx="401562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EFE4"/>
                </a:solidFill>
                <a:latin typeface="IBM Plex Sans" pitchFamily="34" charset="0"/>
                <a:ea typeface="IBM Plex Sans" pitchFamily="34" charset="-122"/>
                <a:cs typeface="IBM Plex Sans" pitchFamily="34" charset="-120"/>
              </a:rPr>
              <a:t>BSc (Hons) Computer Science</a:t>
            </a:r>
            <a:endParaRPr lang="en-US" sz="1600" dirty="0"/>
          </a:p>
        </p:txBody>
      </p:sp>
      <p:sp>
        <p:nvSpPr>
          <p:cNvPr id="14" name="Text 12"/>
          <p:cNvSpPr/>
          <p:nvPr/>
        </p:nvSpPr>
        <p:spPr>
          <a:xfrm>
            <a:off x="7480538" y="5344160"/>
            <a:ext cx="401562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Informatics Institute of Technology · University of Westminster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01 · STORYLINE AND TIMING</a:t>
            </a:r>
            <a:endParaRPr lang="en-US" sz="1200" dirty="0"/>
          </a:p>
        </p:txBody>
      </p:sp>
      <p:sp>
        <p:nvSpPr>
          <p:cNvPr id="3" name="Text 1"/>
          <p:cNvSpPr/>
          <p:nvPr>
            <p:ph type="title"/>
          </p:nvPr>
        </p:nvSpPr>
        <p:spPr>
          <a:xfrm>
            <a:off x="812800" y="1076960"/>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203A"/>
                </a:solidFill>
                <a:latin typeface="EB Garamond" pitchFamily="18" charset="0"/>
                <a:ea typeface="EB Garamond" pitchFamily="18" charset="-122"/>
                <a:cs typeface="EB Garamond" pitchFamily="18" charset="-120"/>
              </a:rPr>
              <a:t>From a static snapshot to a living compliance check</a:t>
            </a:r>
            <a:endParaRPr lang="en-US" sz="3400" dirty="0"/>
          </a:p>
        </p:txBody>
      </p:sp>
      <p:sp>
        <p:nvSpPr>
          <p:cNvPr id="4" name="Shape 2"/>
          <p:cNvSpPr/>
          <p:nvPr/>
        </p:nvSpPr>
        <p:spPr>
          <a:xfrm>
            <a:off x="815975" y="1732915"/>
            <a:ext cx="10560050" cy="440690"/>
          </a:xfrm>
          <a:prstGeom prst="roundRect">
            <a:avLst>
              <a:gd name="adj" fmla="val 19452"/>
            </a:avLst>
          </a:prstGeom>
          <a:solidFill>
            <a:srgbClr val="FBF9F3"/>
          </a:solidFill>
          <a:ln w="6350">
            <a:solidFill>
              <a:srgbClr val="D9D0BC"/>
            </a:solidFill>
            <a:prstDash val="solid"/>
          </a:ln>
        </p:spPr>
      </p:sp>
      <p:sp>
        <p:nvSpPr>
          <p:cNvPr id="5" name="Text 3"/>
          <p:cNvSpPr/>
          <p:nvPr/>
        </p:nvSpPr>
        <p:spPr>
          <a:xfrm>
            <a:off x="995680" y="1819910"/>
            <a:ext cx="3556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6B"/>
                </a:solidFill>
                <a:latin typeface="IBM Plex Sans" pitchFamily="34" charset="0"/>
                <a:ea typeface="IBM Plex Sans" pitchFamily="34" charset="-122"/>
                <a:cs typeface="IBM Plex Sans" pitchFamily="34" charset="-120"/>
              </a:rPr>
              <a:t>1</a:t>
            </a:r>
            <a:endParaRPr lang="en-US" sz="1500" dirty="0"/>
          </a:p>
        </p:txBody>
      </p:sp>
      <p:sp>
        <p:nvSpPr>
          <p:cNvPr id="6" name="Text 4"/>
          <p:cNvSpPr/>
          <p:nvPr/>
        </p:nvSpPr>
        <p:spPr>
          <a:xfrm>
            <a:off x="1478280" y="1811020"/>
            <a:ext cx="709251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3A"/>
                </a:solidFill>
                <a:latin typeface="IBM Plex Sans" pitchFamily="34" charset="0"/>
                <a:ea typeface="IBM Plex Sans" pitchFamily="34" charset="-122"/>
                <a:cs typeface="IBM Plex Sans" pitchFamily="34" charset="-120"/>
              </a:rPr>
              <a:t>Problem and context</a:t>
            </a:r>
            <a:endParaRPr lang="en-US" sz="1600" dirty="0"/>
          </a:p>
        </p:txBody>
      </p:sp>
      <p:sp>
        <p:nvSpPr>
          <p:cNvPr id="7" name="Text 5"/>
          <p:cNvSpPr/>
          <p:nvPr/>
        </p:nvSpPr>
        <p:spPr>
          <a:xfrm>
            <a:off x="8542020" y="1837690"/>
            <a:ext cx="1701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5"/>
                </a:solidFill>
                <a:latin typeface="IBM Plex Sans" pitchFamily="34" charset="0"/>
                <a:ea typeface="IBM Plex Sans" pitchFamily="34" charset="-122"/>
                <a:cs typeface="IBM Plex Sans" pitchFamily="34" charset="-120"/>
              </a:rPr>
              <a:t>Slide 02</a:t>
            </a:r>
            <a:endParaRPr lang="en-US" sz="1300" dirty="0"/>
          </a:p>
        </p:txBody>
      </p:sp>
      <p:sp>
        <p:nvSpPr>
          <p:cNvPr id="8" name="Text 6"/>
          <p:cNvSpPr/>
          <p:nvPr/>
        </p:nvSpPr>
        <p:spPr>
          <a:xfrm>
            <a:off x="10320020" y="1837690"/>
            <a:ext cx="876300"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2203A"/>
                </a:solidFill>
                <a:latin typeface="IBM Plex Sans" pitchFamily="34" charset="0"/>
                <a:ea typeface="IBM Plex Sans" pitchFamily="34" charset="-122"/>
                <a:cs typeface="IBM Plex Sans" pitchFamily="34" charset="-120"/>
              </a:rPr>
              <a:t>1 min</a:t>
            </a:r>
            <a:endParaRPr lang="en-US" sz="1300" dirty="0"/>
          </a:p>
        </p:txBody>
      </p:sp>
      <p:sp>
        <p:nvSpPr>
          <p:cNvPr id="9" name="Shape 7"/>
          <p:cNvSpPr/>
          <p:nvPr/>
        </p:nvSpPr>
        <p:spPr>
          <a:xfrm>
            <a:off x="815975" y="2256155"/>
            <a:ext cx="10560050" cy="440690"/>
          </a:xfrm>
          <a:prstGeom prst="roundRect">
            <a:avLst>
              <a:gd name="adj" fmla="val 19452"/>
            </a:avLst>
          </a:prstGeom>
          <a:solidFill>
            <a:srgbClr val="FBF9F3"/>
          </a:solidFill>
          <a:ln w="6350">
            <a:solidFill>
              <a:srgbClr val="D9D0BC"/>
            </a:solidFill>
            <a:prstDash val="solid"/>
          </a:ln>
        </p:spPr>
      </p:sp>
      <p:sp>
        <p:nvSpPr>
          <p:cNvPr id="10" name="Text 8"/>
          <p:cNvSpPr/>
          <p:nvPr/>
        </p:nvSpPr>
        <p:spPr>
          <a:xfrm>
            <a:off x="995680" y="2343150"/>
            <a:ext cx="3556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6B"/>
                </a:solidFill>
                <a:latin typeface="IBM Plex Sans" pitchFamily="34" charset="0"/>
                <a:ea typeface="IBM Plex Sans" pitchFamily="34" charset="-122"/>
                <a:cs typeface="IBM Plex Sans" pitchFamily="34" charset="-120"/>
              </a:rPr>
              <a:t>2</a:t>
            </a:r>
            <a:endParaRPr lang="en-US" sz="1500" dirty="0"/>
          </a:p>
        </p:txBody>
      </p:sp>
      <p:sp>
        <p:nvSpPr>
          <p:cNvPr id="11" name="Text 9"/>
          <p:cNvSpPr/>
          <p:nvPr/>
        </p:nvSpPr>
        <p:spPr>
          <a:xfrm>
            <a:off x="1478280" y="2334260"/>
            <a:ext cx="709251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3A"/>
                </a:solidFill>
                <a:latin typeface="IBM Plex Sans" pitchFamily="34" charset="0"/>
                <a:ea typeface="IBM Plex Sans" pitchFamily="34" charset="-122"/>
                <a:cs typeface="IBM Plex Sans" pitchFamily="34" charset="-120"/>
              </a:rPr>
              <a:t>Evidence and literature</a:t>
            </a:r>
            <a:endParaRPr lang="en-US" sz="1600" dirty="0"/>
          </a:p>
        </p:txBody>
      </p:sp>
      <p:sp>
        <p:nvSpPr>
          <p:cNvPr id="12" name="Text 10"/>
          <p:cNvSpPr/>
          <p:nvPr/>
        </p:nvSpPr>
        <p:spPr>
          <a:xfrm>
            <a:off x="8542020" y="2360930"/>
            <a:ext cx="1701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5"/>
                </a:solidFill>
                <a:latin typeface="IBM Plex Sans" pitchFamily="34" charset="0"/>
                <a:ea typeface="IBM Plex Sans" pitchFamily="34" charset="-122"/>
                <a:cs typeface="IBM Plex Sans" pitchFamily="34" charset="-120"/>
              </a:rPr>
              <a:t>Slides 03, 05, 06</a:t>
            </a:r>
            <a:endParaRPr lang="en-US" sz="1300" dirty="0"/>
          </a:p>
        </p:txBody>
      </p:sp>
      <p:sp>
        <p:nvSpPr>
          <p:cNvPr id="13" name="Text 11"/>
          <p:cNvSpPr/>
          <p:nvPr/>
        </p:nvSpPr>
        <p:spPr>
          <a:xfrm>
            <a:off x="10320020" y="2360930"/>
            <a:ext cx="876300"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2203A"/>
                </a:solidFill>
                <a:latin typeface="IBM Plex Sans" pitchFamily="34" charset="0"/>
                <a:ea typeface="IBM Plex Sans" pitchFamily="34" charset="-122"/>
                <a:cs typeface="IBM Plex Sans" pitchFamily="34" charset="-120"/>
              </a:rPr>
              <a:t>1.5 min</a:t>
            </a:r>
            <a:endParaRPr lang="en-US" sz="1300" dirty="0"/>
          </a:p>
        </p:txBody>
      </p:sp>
      <p:sp>
        <p:nvSpPr>
          <p:cNvPr id="14" name="Shape 12"/>
          <p:cNvSpPr/>
          <p:nvPr/>
        </p:nvSpPr>
        <p:spPr>
          <a:xfrm>
            <a:off x="815975" y="2779395"/>
            <a:ext cx="10560050" cy="440690"/>
          </a:xfrm>
          <a:prstGeom prst="roundRect">
            <a:avLst>
              <a:gd name="adj" fmla="val 19452"/>
            </a:avLst>
          </a:prstGeom>
          <a:solidFill>
            <a:srgbClr val="FBF9F3"/>
          </a:solidFill>
          <a:ln w="6350">
            <a:solidFill>
              <a:srgbClr val="D9D0BC"/>
            </a:solidFill>
            <a:prstDash val="solid"/>
          </a:ln>
        </p:spPr>
      </p:sp>
      <p:sp>
        <p:nvSpPr>
          <p:cNvPr id="15" name="Text 13"/>
          <p:cNvSpPr/>
          <p:nvPr/>
        </p:nvSpPr>
        <p:spPr>
          <a:xfrm>
            <a:off x="995680" y="2866390"/>
            <a:ext cx="3556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6B"/>
                </a:solidFill>
                <a:latin typeface="IBM Plex Sans" pitchFamily="34" charset="0"/>
                <a:ea typeface="IBM Plex Sans" pitchFamily="34" charset="-122"/>
                <a:cs typeface="IBM Plex Sans" pitchFamily="34" charset="-120"/>
              </a:rPr>
              <a:t>3</a:t>
            </a:r>
            <a:endParaRPr lang="en-US" sz="1500" dirty="0"/>
          </a:p>
        </p:txBody>
      </p:sp>
      <p:sp>
        <p:nvSpPr>
          <p:cNvPr id="16" name="Text 14"/>
          <p:cNvSpPr/>
          <p:nvPr/>
        </p:nvSpPr>
        <p:spPr>
          <a:xfrm>
            <a:off x="1478280" y="2857500"/>
            <a:ext cx="709251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3A"/>
                </a:solidFill>
                <a:latin typeface="IBM Plex Sans" pitchFamily="34" charset="0"/>
                <a:ea typeface="IBM Plex Sans" pitchFamily="34" charset="-122"/>
                <a:cs typeface="IBM Plex Sans" pitchFamily="34" charset="-120"/>
              </a:rPr>
              <a:t>Gap or shortcoming</a:t>
            </a:r>
            <a:endParaRPr lang="en-US" sz="1600" dirty="0"/>
          </a:p>
        </p:txBody>
      </p:sp>
      <p:sp>
        <p:nvSpPr>
          <p:cNvPr id="17" name="Text 15"/>
          <p:cNvSpPr/>
          <p:nvPr/>
        </p:nvSpPr>
        <p:spPr>
          <a:xfrm>
            <a:off x="8542020" y="2884170"/>
            <a:ext cx="1701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5"/>
                </a:solidFill>
                <a:latin typeface="IBM Plex Sans" pitchFamily="34" charset="0"/>
                <a:ea typeface="IBM Plex Sans" pitchFamily="34" charset="-122"/>
                <a:cs typeface="IBM Plex Sans" pitchFamily="34" charset="-120"/>
              </a:rPr>
              <a:t>Slide 07</a:t>
            </a:r>
            <a:endParaRPr lang="en-US" sz="1300" dirty="0"/>
          </a:p>
        </p:txBody>
      </p:sp>
      <p:sp>
        <p:nvSpPr>
          <p:cNvPr id="18" name="Text 16"/>
          <p:cNvSpPr/>
          <p:nvPr/>
        </p:nvSpPr>
        <p:spPr>
          <a:xfrm>
            <a:off x="10320020" y="2884170"/>
            <a:ext cx="876300"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2203A"/>
                </a:solidFill>
                <a:latin typeface="IBM Plex Sans" pitchFamily="34" charset="0"/>
                <a:ea typeface="IBM Plex Sans" pitchFamily="34" charset="-122"/>
                <a:cs typeface="IBM Plex Sans" pitchFamily="34" charset="-120"/>
              </a:rPr>
              <a:t>1.5 min</a:t>
            </a:r>
            <a:endParaRPr lang="en-US" sz="1300" dirty="0"/>
          </a:p>
        </p:txBody>
      </p:sp>
      <p:sp>
        <p:nvSpPr>
          <p:cNvPr id="19" name="Shape 17"/>
          <p:cNvSpPr/>
          <p:nvPr/>
        </p:nvSpPr>
        <p:spPr>
          <a:xfrm>
            <a:off x="815975" y="3302635"/>
            <a:ext cx="10560050" cy="440690"/>
          </a:xfrm>
          <a:prstGeom prst="roundRect">
            <a:avLst>
              <a:gd name="adj" fmla="val 19452"/>
            </a:avLst>
          </a:prstGeom>
          <a:solidFill>
            <a:srgbClr val="FBF9F3"/>
          </a:solidFill>
          <a:ln w="6350">
            <a:solidFill>
              <a:srgbClr val="D9D0BC"/>
            </a:solidFill>
            <a:prstDash val="solid"/>
          </a:ln>
        </p:spPr>
      </p:sp>
      <p:sp>
        <p:nvSpPr>
          <p:cNvPr id="20" name="Text 18"/>
          <p:cNvSpPr/>
          <p:nvPr/>
        </p:nvSpPr>
        <p:spPr>
          <a:xfrm>
            <a:off x="995680" y="3389630"/>
            <a:ext cx="3556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6B"/>
                </a:solidFill>
                <a:latin typeface="IBM Plex Sans" pitchFamily="34" charset="0"/>
                <a:ea typeface="IBM Plex Sans" pitchFamily="34" charset="-122"/>
                <a:cs typeface="IBM Plex Sans" pitchFamily="34" charset="-120"/>
              </a:rPr>
              <a:t>4</a:t>
            </a:r>
            <a:endParaRPr lang="en-US" sz="1500" dirty="0"/>
          </a:p>
        </p:txBody>
      </p:sp>
      <p:sp>
        <p:nvSpPr>
          <p:cNvPr id="21" name="Text 19"/>
          <p:cNvSpPr/>
          <p:nvPr/>
        </p:nvSpPr>
        <p:spPr>
          <a:xfrm>
            <a:off x="1478280" y="3380740"/>
            <a:ext cx="709251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3A"/>
                </a:solidFill>
                <a:latin typeface="IBM Plex Sans" pitchFamily="34" charset="0"/>
                <a:ea typeface="IBM Plex Sans" pitchFamily="34" charset="-122"/>
                <a:cs typeface="IBM Plex Sans" pitchFamily="34" charset="-120"/>
              </a:rPr>
              <a:t>Aim and objectives</a:t>
            </a:r>
            <a:endParaRPr lang="en-US" sz="1600" dirty="0"/>
          </a:p>
        </p:txBody>
      </p:sp>
      <p:sp>
        <p:nvSpPr>
          <p:cNvPr id="22" name="Text 20"/>
          <p:cNvSpPr/>
          <p:nvPr/>
        </p:nvSpPr>
        <p:spPr>
          <a:xfrm>
            <a:off x="8542020" y="3407410"/>
            <a:ext cx="1701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5"/>
                </a:solidFill>
                <a:latin typeface="IBM Plex Sans" pitchFamily="34" charset="0"/>
                <a:ea typeface="IBM Plex Sans" pitchFamily="34" charset="-122"/>
                <a:cs typeface="IBM Plex Sans" pitchFamily="34" charset="-120"/>
              </a:rPr>
              <a:t>Slide 04</a:t>
            </a:r>
            <a:endParaRPr lang="en-US" sz="1300" dirty="0"/>
          </a:p>
        </p:txBody>
      </p:sp>
      <p:sp>
        <p:nvSpPr>
          <p:cNvPr id="23" name="Text 21"/>
          <p:cNvSpPr/>
          <p:nvPr/>
        </p:nvSpPr>
        <p:spPr>
          <a:xfrm>
            <a:off x="10320020" y="3407410"/>
            <a:ext cx="876300"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2203A"/>
                </a:solidFill>
                <a:latin typeface="IBM Plex Sans" pitchFamily="34" charset="0"/>
                <a:ea typeface="IBM Plex Sans" pitchFamily="34" charset="-122"/>
                <a:cs typeface="IBM Plex Sans" pitchFamily="34" charset="-120"/>
              </a:rPr>
              <a:t>1 min</a:t>
            </a:r>
            <a:endParaRPr lang="en-US" sz="1300" dirty="0"/>
          </a:p>
        </p:txBody>
      </p:sp>
      <p:sp>
        <p:nvSpPr>
          <p:cNvPr id="24" name="Shape 22"/>
          <p:cNvSpPr/>
          <p:nvPr/>
        </p:nvSpPr>
        <p:spPr>
          <a:xfrm>
            <a:off x="815975" y="3825875"/>
            <a:ext cx="10560050" cy="440690"/>
          </a:xfrm>
          <a:prstGeom prst="roundRect">
            <a:avLst>
              <a:gd name="adj" fmla="val 19452"/>
            </a:avLst>
          </a:prstGeom>
          <a:solidFill>
            <a:srgbClr val="FBF9F3"/>
          </a:solidFill>
          <a:ln w="6350">
            <a:solidFill>
              <a:srgbClr val="D9D0BC"/>
            </a:solidFill>
            <a:prstDash val="solid"/>
          </a:ln>
        </p:spPr>
      </p:sp>
      <p:sp>
        <p:nvSpPr>
          <p:cNvPr id="25" name="Text 23"/>
          <p:cNvSpPr/>
          <p:nvPr/>
        </p:nvSpPr>
        <p:spPr>
          <a:xfrm>
            <a:off x="995680" y="3912870"/>
            <a:ext cx="3556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6B"/>
                </a:solidFill>
                <a:latin typeface="IBM Plex Sans" pitchFamily="34" charset="0"/>
                <a:ea typeface="IBM Plex Sans" pitchFamily="34" charset="-122"/>
                <a:cs typeface="IBM Plex Sans" pitchFamily="34" charset="-120"/>
              </a:rPr>
              <a:t>5</a:t>
            </a:r>
            <a:endParaRPr lang="en-US" sz="1500" dirty="0"/>
          </a:p>
        </p:txBody>
      </p:sp>
      <p:sp>
        <p:nvSpPr>
          <p:cNvPr id="26" name="Text 24"/>
          <p:cNvSpPr/>
          <p:nvPr/>
        </p:nvSpPr>
        <p:spPr>
          <a:xfrm>
            <a:off x="1478280" y="3903980"/>
            <a:ext cx="709251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3A"/>
                </a:solidFill>
                <a:latin typeface="IBM Plex Sans" pitchFamily="34" charset="0"/>
                <a:ea typeface="IBM Plex Sans" pitchFamily="34" charset="-122"/>
                <a:cs typeface="IBM Plex Sans" pitchFamily="34" charset="-120"/>
              </a:rPr>
              <a:t>Proposed solution requirements</a:t>
            </a:r>
            <a:endParaRPr lang="en-US" sz="1600" dirty="0"/>
          </a:p>
        </p:txBody>
      </p:sp>
      <p:sp>
        <p:nvSpPr>
          <p:cNvPr id="27" name="Text 25"/>
          <p:cNvSpPr/>
          <p:nvPr/>
        </p:nvSpPr>
        <p:spPr>
          <a:xfrm>
            <a:off x="8542020" y="3930650"/>
            <a:ext cx="1701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5"/>
                </a:solidFill>
                <a:latin typeface="IBM Plex Sans" pitchFamily="34" charset="0"/>
                <a:ea typeface="IBM Plex Sans" pitchFamily="34" charset="-122"/>
                <a:cs typeface="IBM Plex Sans" pitchFamily="34" charset="-120"/>
              </a:rPr>
              <a:t>Slides 07, 08</a:t>
            </a:r>
            <a:endParaRPr lang="en-US" sz="1300" dirty="0"/>
          </a:p>
        </p:txBody>
      </p:sp>
      <p:sp>
        <p:nvSpPr>
          <p:cNvPr id="28" name="Text 26"/>
          <p:cNvSpPr/>
          <p:nvPr/>
        </p:nvSpPr>
        <p:spPr>
          <a:xfrm>
            <a:off x="10320020" y="3930650"/>
            <a:ext cx="876300"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2203A"/>
                </a:solidFill>
                <a:latin typeface="IBM Plex Sans" pitchFamily="34" charset="0"/>
                <a:ea typeface="IBM Plex Sans" pitchFamily="34" charset="-122"/>
                <a:cs typeface="IBM Plex Sans" pitchFamily="34" charset="-120"/>
              </a:rPr>
              <a:t>1.5 min</a:t>
            </a:r>
            <a:endParaRPr lang="en-US" sz="1300" dirty="0"/>
          </a:p>
        </p:txBody>
      </p:sp>
      <p:sp>
        <p:nvSpPr>
          <p:cNvPr id="29" name="Shape 27"/>
          <p:cNvSpPr/>
          <p:nvPr/>
        </p:nvSpPr>
        <p:spPr>
          <a:xfrm>
            <a:off x="815975" y="4349115"/>
            <a:ext cx="10560050" cy="440690"/>
          </a:xfrm>
          <a:prstGeom prst="roundRect">
            <a:avLst>
              <a:gd name="adj" fmla="val 19452"/>
            </a:avLst>
          </a:prstGeom>
          <a:solidFill>
            <a:srgbClr val="FBF9F3"/>
          </a:solidFill>
          <a:ln w="6350">
            <a:solidFill>
              <a:srgbClr val="D9D0BC"/>
            </a:solidFill>
            <a:prstDash val="solid"/>
          </a:ln>
        </p:spPr>
      </p:sp>
      <p:sp>
        <p:nvSpPr>
          <p:cNvPr id="30" name="Text 28"/>
          <p:cNvSpPr/>
          <p:nvPr/>
        </p:nvSpPr>
        <p:spPr>
          <a:xfrm>
            <a:off x="995680" y="4436110"/>
            <a:ext cx="3556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6B"/>
                </a:solidFill>
                <a:latin typeface="IBM Plex Sans" pitchFamily="34" charset="0"/>
                <a:ea typeface="IBM Plex Sans" pitchFamily="34" charset="-122"/>
                <a:cs typeface="IBM Plex Sans" pitchFamily="34" charset="-120"/>
              </a:rPr>
              <a:t>6</a:t>
            </a:r>
            <a:endParaRPr lang="en-US" sz="1500" dirty="0"/>
          </a:p>
        </p:txBody>
      </p:sp>
      <p:sp>
        <p:nvSpPr>
          <p:cNvPr id="31" name="Text 29"/>
          <p:cNvSpPr/>
          <p:nvPr/>
        </p:nvSpPr>
        <p:spPr>
          <a:xfrm>
            <a:off x="1478280" y="4427220"/>
            <a:ext cx="709251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3A"/>
                </a:solidFill>
                <a:latin typeface="IBM Plex Sans" pitchFamily="34" charset="0"/>
                <a:ea typeface="IBM Plex Sans" pitchFamily="34" charset="-122"/>
                <a:cs typeface="IBM Plex Sans" pitchFamily="34" charset="-120"/>
              </a:rPr>
              <a:t>Tools, methodology and evaluation</a:t>
            </a:r>
            <a:endParaRPr lang="en-US" sz="1600" dirty="0"/>
          </a:p>
        </p:txBody>
      </p:sp>
      <p:sp>
        <p:nvSpPr>
          <p:cNvPr id="32" name="Text 30"/>
          <p:cNvSpPr/>
          <p:nvPr/>
        </p:nvSpPr>
        <p:spPr>
          <a:xfrm>
            <a:off x="8542020" y="4453890"/>
            <a:ext cx="1701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5"/>
                </a:solidFill>
                <a:latin typeface="IBM Plex Sans" pitchFamily="34" charset="0"/>
                <a:ea typeface="IBM Plex Sans" pitchFamily="34" charset="-122"/>
                <a:cs typeface="IBM Plex Sans" pitchFamily="34" charset="-120"/>
              </a:rPr>
              <a:t>Slides 09, 10</a:t>
            </a:r>
            <a:endParaRPr lang="en-US" sz="1300" dirty="0"/>
          </a:p>
        </p:txBody>
      </p:sp>
      <p:sp>
        <p:nvSpPr>
          <p:cNvPr id="33" name="Text 31"/>
          <p:cNvSpPr/>
          <p:nvPr/>
        </p:nvSpPr>
        <p:spPr>
          <a:xfrm>
            <a:off x="10320020" y="4453890"/>
            <a:ext cx="876300"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2203A"/>
                </a:solidFill>
                <a:latin typeface="IBM Plex Sans" pitchFamily="34" charset="0"/>
                <a:ea typeface="IBM Plex Sans" pitchFamily="34" charset="-122"/>
                <a:cs typeface="IBM Plex Sans" pitchFamily="34" charset="-120"/>
              </a:rPr>
              <a:t>2 min</a:t>
            </a:r>
            <a:endParaRPr lang="en-US" sz="1300" dirty="0"/>
          </a:p>
        </p:txBody>
      </p:sp>
      <p:sp>
        <p:nvSpPr>
          <p:cNvPr id="34" name="Shape 32"/>
          <p:cNvSpPr/>
          <p:nvPr/>
        </p:nvSpPr>
        <p:spPr>
          <a:xfrm>
            <a:off x="815975" y="4872355"/>
            <a:ext cx="10560050" cy="440690"/>
          </a:xfrm>
          <a:prstGeom prst="roundRect">
            <a:avLst>
              <a:gd name="adj" fmla="val 19452"/>
            </a:avLst>
          </a:prstGeom>
          <a:solidFill>
            <a:srgbClr val="FBF9F3"/>
          </a:solidFill>
          <a:ln w="6350">
            <a:solidFill>
              <a:srgbClr val="D9D0BC"/>
            </a:solidFill>
            <a:prstDash val="solid"/>
          </a:ln>
        </p:spPr>
      </p:sp>
      <p:sp>
        <p:nvSpPr>
          <p:cNvPr id="35" name="Text 33"/>
          <p:cNvSpPr/>
          <p:nvPr/>
        </p:nvSpPr>
        <p:spPr>
          <a:xfrm>
            <a:off x="995680" y="4959350"/>
            <a:ext cx="3556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6B"/>
                </a:solidFill>
                <a:latin typeface="IBM Plex Sans" pitchFamily="34" charset="0"/>
                <a:ea typeface="IBM Plex Sans" pitchFamily="34" charset="-122"/>
                <a:cs typeface="IBM Plex Sans" pitchFamily="34" charset="-120"/>
              </a:rPr>
              <a:t>7</a:t>
            </a:r>
            <a:endParaRPr lang="en-US" sz="1500" dirty="0"/>
          </a:p>
        </p:txBody>
      </p:sp>
      <p:sp>
        <p:nvSpPr>
          <p:cNvPr id="36" name="Text 34"/>
          <p:cNvSpPr/>
          <p:nvPr/>
        </p:nvSpPr>
        <p:spPr>
          <a:xfrm>
            <a:off x="1478280" y="4950460"/>
            <a:ext cx="709251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3A"/>
                </a:solidFill>
                <a:latin typeface="IBM Plex Sans" pitchFamily="34" charset="0"/>
                <a:ea typeface="IBM Plex Sans" pitchFamily="34" charset="-122"/>
                <a:cs typeface="IBM Plex Sans" pitchFamily="34" charset="-120"/>
              </a:rPr>
              <a:t>Ethics, sustainability, schedule and risk</a:t>
            </a:r>
            <a:endParaRPr lang="en-US" sz="1600" dirty="0"/>
          </a:p>
        </p:txBody>
      </p:sp>
      <p:sp>
        <p:nvSpPr>
          <p:cNvPr id="37" name="Text 35"/>
          <p:cNvSpPr/>
          <p:nvPr/>
        </p:nvSpPr>
        <p:spPr>
          <a:xfrm>
            <a:off x="8542020" y="4977130"/>
            <a:ext cx="1701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5"/>
                </a:solidFill>
                <a:latin typeface="IBM Plex Sans" pitchFamily="34" charset="0"/>
                <a:ea typeface="IBM Plex Sans" pitchFamily="34" charset="-122"/>
                <a:cs typeface="IBM Plex Sans" pitchFamily="34" charset="-120"/>
              </a:rPr>
              <a:t>Slides 11, 12, 13</a:t>
            </a:r>
            <a:endParaRPr lang="en-US" sz="1300" dirty="0"/>
          </a:p>
        </p:txBody>
      </p:sp>
      <p:sp>
        <p:nvSpPr>
          <p:cNvPr id="38" name="Text 36"/>
          <p:cNvSpPr/>
          <p:nvPr/>
        </p:nvSpPr>
        <p:spPr>
          <a:xfrm>
            <a:off x="10320020" y="4977130"/>
            <a:ext cx="876300"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2203A"/>
                </a:solidFill>
                <a:latin typeface="IBM Plex Sans" pitchFamily="34" charset="0"/>
                <a:ea typeface="IBM Plex Sans" pitchFamily="34" charset="-122"/>
                <a:cs typeface="IBM Plex Sans" pitchFamily="34" charset="-120"/>
              </a:rPr>
              <a:t>1.5 min</a:t>
            </a:r>
            <a:endParaRPr lang="en-US" sz="1300" dirty="0"/>
          </a:p>
        </p:txBody>
      </p:sp>
      <p:sp>
        <p:nvSpPr>
          <p:cNvPr id="39" name="Text 37"/>
          <p:cNvSpPr/>
          <p:nvPr/>
        </p:nvSpPr>
        <p:spPr>
          <a:xfrm>
            <a:off x="812800" y="6238241"/>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Total about 10 minutes · adjust to your slot</a:t>
            </a:r>
            <a:endParaRPr lang="en-US" sz="1200" dirty="0"/>
          </a:p>
        </p:txBody>
      </p:sp>
      <p:sp>
        <p:nvSpPr>
          <p:cNvPr id="40" name="Text 38"/>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01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6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02 · PROBLEM CONTEXT</a:t>
            </a:r>
            <a:endParaRPr lang="en-US" sz="1200" dirty="0"/>
          </a:p>
        </p:txBody>
      </p:sp>
      <p:sp>
        <p:nvSpPr>
          <p:cNvPr id="3" name="Text 1"/>
          <p:cNvSpPr/>
          <p:nvPr>
            <p:ph type="title"/>
          </p:nvPr>
        </p:nvSpPr>
        <p:spPr>
          <a:xfrm>
            <a:off x="812800" y="1076961"/>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203A"/>
                </a:solidFill>
                <a:latin typeface="EB Garamond" pitchFamily="18" charset="0"/>
                <a:ea typeface="EB Garamond" pitchFamily="18" charset="-122"/>
                <a:cs typeface="EB Garamond" pitchFamily="18" charset="-120"/>
              </a:rPr>
              <a:t>Contracts are signed once, but the law keeps changing</a:t>
            </a:r>
            <a:endParaRPr lang="en-US" sz="3400" dirty="0"/>
          </a:p>
        </p:txBody>
      </p:sp>
      <p:sp>
        <p:nvSpPr>
          <p:cNvPr id="4" name="Shape 2"/>
          <p:cNvSpPr/>
          <p:nvPr/>
        </p:nvSpPr>
        <p:spPr>
          <a:xfrm>
            <a:off x="815975" y="1758316"/>
            <a:ext cx="5200650" cy="1492250"/>
          </a:xfrm>
          <a:prstGeom prst="roundRect">
            <a:avLst>
              <a:gd name="adj" fmla="val 6596"/>
            </a:avLst>
          </a:prstGeom>
          <a:solidFill>
            <a:srgbClr val="FBF9F3"/>
          </a:solidFill>
          <a:ln w="6350">
            <a:solidFill>
              <a:srgbClr val="D2C8B2"/>
            </a:solidFill>
            <a:prstDash val="solid"/>
          </a:ln>
        </p:spPr>
      </p:sp>
      <p:sp>
        <p:nvSpPr>
          <p:cNvPr id="5" name="Text 3"/>
          <p:cNvSpPr/>
          <p:nvPr/>
        </p:nvSpPr>
        <p:spPr>
          <a:xfrm>
            <a:off x="1046480" y="1963420"/>
            <a:ext cx="488182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6F6B"/>
                </a:solidFill>
                <a:latin typeface="IBM Plex Sans" pitchFamily="34" charset="0"/>
                <a:ea typeface="IBM Plex Sans" pitchFamily="34" charset="-122"/>
                <a:cs typeface="IBM Plex Sans" pitchFamily="34" charset="-120"/>
              </a:rPr>
              <a:t>Domain and context</a:t>
            </a:r>
            <a:endParaRPr lang="en-US" sz="1700" dirty="0"/>
          </a:p>
        </p:txBody>
      </p:sp>
      <p:sp>
        <p:nvSpPr>
          <p:cNvPr id="6" name="Text 4"/>
          <p:cNvSpPr/>
          <p:nvPr/>
        </p:nvSpPr>
        <p:spPr>
          <a:xfrm>
            <a:off x="1046480" y="2298700"/>
            <a:ext cx="488182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3A4D"/>
                </a:solidFill>
                <a:latin typeface="IBM Plex Sans" pitchFamily="34" charset="0"/>
                <a:ea typeface="IBM Plex Sans" pitchFamily="34" charset="-122"/>
                <a:cs typeface="IBM Plex Sans" pitchFamily="34" charset="-120"/>
              </a:rPr>
              <a:t>Legal AI for commercial contract review. Contracts are high-volume, high-stakes documents, and review has depended on the time of qualified lawyers.</a:t>
            </a:r>
            <a:endParaRPr lang="en-US" sz="1400" dirty="0"/>
          </a:p>
        </p:txBody>
      </p:sp>
      <p:sp>
        <p:nvSpPr>
          <p:cNvPr id="7" name="Shape 5"/>
          <p:cNvSpPr/>
          <p:nvPr/>
        </p:nvSpPr>
        <p:spPr>
          <a:xfrm>
            <a:off x="6175375" y="1758316"/>
            <a:ext cx="5200650" cy="1492250"/>
          </a:xfrm>
          <a:prstGeom prst="roundRect">
            <a:avLst>
              <a:gd name="adj" fmla="val 6596"/>
            </a:avLst>
          </a:prstGeom>
          <a:solidFill>
            <a:srgbClr val="FBF9F3"/>
          </a:solidFill>
          <a:ln w="6350">
            <a:solidFill>
              <a:srgbClr val="D2C8B2"/>
            </a:solidFill>
            <a:prstDash val="solid"/>
          </a:ln>
        </p:spPr>
      </p:sp>
      <p:sp>
        <p:nvSpPr>
          <p:cNvPr id="8" name="Text 6"/>
          <p:cNvSpPr/>
          <p:nvPr/>
        </p:nvSpPr>
        <p:spPr>
          <a:xfrm>
            <a:off x="6405880" y="1963420"/>
            <a:ext cx="488182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6F6B"/>
                </a:solidFill>
                <a:latin typeface="IBM Plex Sans" pitchFamily="34" charset="0"/>
                <a:ea typeface="IBM Plex Sans" pitchFamily="34" charset="-122"/>
                <a:cs typeface="IBM Plex Sans" pitchFamily="34" charset="-120"/>
              </a:rPr>
              <a:t>Affected users and organisations</a:t>
            </a:r>
            <a:endParaRPr lang="en-US" sz="1700" dirty="0"/>
          </a:p>
        </p:txBody>
      </p:sp>
      <p:sp>
        <p:nvSpPr>
          <p:cNvPr id="9" name="Text 7"/>
          <p:cNvSpPr/>
          <p:nvPr/>
        </p:nvSpPr>
        <p:spPr>
          <a:xfrm>
            <a:off x="6405880" y="2298700"/>
            <a:ext cx="488182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3A4D"/>
                </a:solidFill>
                <a:latin typeface="IBM Plex Sans" pitchFamily="34" charset="0"/>
                <a:ea typeface="IBM Plex Sans" pitchFamily="34" charset="-122"/>
                <a:cs typeface="IBM Plex Sans" pitchFamily="34" charset="-120"/>
              </a:rPr>
              <a:t>In-house counsel and compliance officers, and organisations whose supplier and service contracts fall under fast-changing regulation.</a:t>
            </a:r>
            <a:endParaRPr lang="en-US" sz="1400" dirty="0"/>
          </a:p>
        </p:txBody>
      </p:sp>
      <p:sp>
        <p:nvSpPr>
          <p:cNvPr id="10" name="Shape 8"/>
          <p:cNvSpPr/>
          <p:nvPr/>
        </p:nvSpPr>
        <p:spPr>
          <a:xfrm>
            <a:off x="815975" y="3409316"/>
            <a:ext cx="5200650" cy="1492250"/>
          </a:xfrm>
          <a:prstGeom prst="roundRect">
            <a:avLst>
              <a:gd name="adj" fmla="val 6596"/>
            </a:avLst>
          </a:prstGeom>
          <a:solidFill>
            <a:srgbClr val="FBF9F3"/>
          </a:solidFill>
          <a:ln w="6350">
            <a:solidFill>
              <a:srgbClr val="D2C8B2"/>
            </a:solidFill>
            <a:prstDash val="solid"/>
          </a:ln>
        </p:spPr>
      </p:sp>
      <p:sp>
        <p:nvSpPr>
          <p:cNvPr id="11" name="Text 9"/>
          <p:cNvSpPr/>
          <p:nvPr/>
        </p:nvSpPr>
        <p:spPr>
          <a:xfrm>
            <a:off x="1046480" y="3614420"/>
            <a:ext cx="488182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6F6B"/>
                </a:solidFill>
                <a:latin typeface="IBM Plex Sans" pitchFamily="34" charset="0"/>
                <a:ea typeface="IBM Plex Sans" pitchFamily="34" charset="-122"/>
                <a:cs typeface="IBM Plex Sans" pitchFamily="34" charset="-120"/>
              </a:rPr>
              <a:t>Key challenge or limitation</a:t>
            </a:r>
            <a:endParaRPr lang="en-US" sz="1700" dirty="0"/>
          </a:p>
        </p:txBody>
      </p:sp>
      <p:sp>
        <p:nvSpPr>
          <p:cNvPr id="12" name="Text 10"/>
          <p:cNvSpPr/>
          <p:nvPr/>
        </p:nvSpPr>
        <p:spPr>
          <a:xfrm>
            <a:off x="1046480" y="3949700"/>
            <a:ext cx="488182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3A4D"/>
                </a:solidFill>
                <a:latin typeface="IBM Plex Sans" pitchFamily="34" charset="0"/>
                <a:ea typeface="IBM Plex Sans" pitchFamily="34" charset="-122"/>
                <a:cs typeface="IBM Plex Sans" pitchFamily="34" charset="-120"/>
              </a:rPr>
              <a:t>Tools check a clause once against a snapshot of the law. A clause that is compliant on signing day can silently become non-compliant after an amendment.</a:t>
            </a:r>
            <a:endParaRPr lang="en-US" sz="1400" dirty="0"/>
          </a:p>
        </p:txBody>
      </p:sp>
      <p:sp>
        <p:nvSpPr>
          <p:cNvPr id="13" name="Shape 11"/>
          <p:cNvSpPr/>
          <p:nvPr/>
        </p:nvSpPr>
        <p:spPr>
          <a:xfrm>
            <a:off x="6172200" y="3406141"/>
            <a:ext cx="5207000" cy="1498600"/>
          </a:xfrm>
          <a:prstGeom prst="roundRect">
            <a:avLst>
              <a:gd name="adj" fmla="val 6780"/>
            </a:avLst>
          </a:prstGeom>
          <a:solidFill>
            <a:srgbClr val="12203A"/>
          </a:solidFill>
          <a:ln/>
        </p:spPr>
      </p:sp>
      <p:sp>
        <p:nvSpPr>
          <p:cNvPr id="14" name="Text 12"/>
          <p:cNvSpPr/>
          <p:nvPr/>
        </p:nvSpPr>
        <p:spPr>
          <a:xfrm>
            <a:off x="6400800" y="3609341"/>
            <a:ext cx="489229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0B25A"/>
                </a:solidFill>
                <a:latin typeface="IBM Plex Sans" pitchFamily="34" charset="0"/>
                <a:ea typeface="IBM Plex Sans" pitchFamily="34" charset="-122"/>
                <a:cs typeface="IBM Plex Sans" pitchFamily="34" charset="-120"/>
              </a:rPr>
              <a:t>Why it is a significant computing problem</a:t>
            </a:r>
            <a:endParaRPr lang="en-US" sz="1700" dirty="0"/>
          </a:p>
        </p:txBody>
      </p:sp>
      <p:sp>
        <p:nvSpPr>
          <p:cNvPr id="15" name="Text 13"/>
          <p:cNvSpPr/>
          <p:nvPr/>
        </p:nvSpPr>
        <p:spPr>
          <a:xfrm>
            <a:off x="6400800" y="3944620"/>
            <a:ext cx="489229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EFE4"/>
                </a:solidFill>
                <a:latin typeface="IBM Plex Sans" pitchFamily="34" charset="0"/>
                <a:ea typeface="IBM Plex Sans" pitchFamily="34" charset="-122"/>
                <a:cs typeface="IBM Plex Sans" pitchFamily="34" charset="-120"/>
              </a:rPr>
              <a:t>It needs accurate clause classification, faithful explanation and versioned legal data in one system. A missed risk costs far more than a false alarm.</a:t>
            </a:r>
            <a:endParaRPr lang="en-US" sz="1400" dirty="0"/>
          </a:p>
        </p:txBody>
      </p:sp>
      <p:sp>
        <p:nvSpPr>
          <p:cNvPr id="16" name="Text 14"/>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Hacker et al. (2020); Senaratna et al. (2026)</a:t>
            </a:r>
            <a:endParaRPr lang="en-US" sz="1200" dirty="0"/>
          </a:p>
        </p:txBody>
      </p:sp>
      <p:sp>
        <p:nvSpPr>
          <p:cNvPr id="17" name="Text 15"/>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03 · EVIDENCE AND PROBLEM STATEMENT</a:t>
            </a:r>
            <a:endParaRPr lang="en-US" sz="1200" dirty="0"/>
          </a:p>
        </p:txBody>
      </p:sp>
      <p:sp>
        <p:nvSpPr>
          <p:cNvPr id="3" name="Text 1"/>
          <p:cNvSpPr/>
          <p:nvPr>
            <p:ph type="title"/>
          </p:nvPr>
        </p:nvSpPr>
        <p:spPr>
          <a:xfrm>
            <a:off x="812800" y="10769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3A"/>
                </a:solidFill>
                <a:latin typeface="EB Garamond" pitchFamily="18" charset="0"/>
                <a:ea typeface="EB Garamond" pitchFamily="18" charset="-122"/>
                <a:cs typeface="EB Garamond" pitchFamily="18" charset="-120"/>
              </a:rPr>
              <a:t>Strong classifiers still miss what matters in practice</a:t>
            </a:r>
            <a:endParaRPr lang="en-US" sz="3200" dirty="0"/>
          </a:p>
        </p:txBody>
      </p:sp>
      <p:sp>
        <p:nvSpPr>
          <p:cNvPr id="4" name="Shape 2"/>
          <p:cNvSpPr/>
          <p:nvPr/>
        </p:nvSpPr>
        <p:spPr>
          <a:xfrm>
            <a:off x="815975" y="1679575"/>
            <a:ext cx="3414157" cy="1357630"/>
          </a:xfrm>
          <a:prstGeom prst="roundRect">
            <a:avLst>
              <a:gd name="adj" fmla="val 7250"/>
            </a:avLst>
          </a:prstGeom>
          <a:solidFill>
            <a:srgbClr val="FBF9F3"/>
          </a:solidFill>
          <a:ln w="6350">
            <a:solidFill>
              <a:srgbClr val="D9D0BC"/>
            </a:solidFill>
            <a:prstDash val="solid"/>
          </a:ln>
        </p:spPr>
      </p:sp>
      <p:sp>
        <p:nvSpPr>
          <p:cNvPr id="5" name="Text 3"/>
          <p:cNvSpPr/>
          <p:nvPr/>
        </p:nvSpPr>
        <p:spPr>
          <a:xfrm>
            <a:off x="995680" y="1808480"/>
            <a:ext cx="314638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F6F6B"/>
                </a:solidFill>
                <a:latin typeface="EB Garamond" pitchFamily="18" charset="0"/>
                <a:ea typeface="EB Garamond" pitchFamily="18" charset="-122"/>
                <a:cs typeface="EB Garamond" pitchFamily="18" charset="-120"/>
              </a:rPr>
              <a:t>28.4%</a:t>
            </a:r>
            <a:endParaRPr lang="en-US" sz="3600" dirty="0"/>
          </a:p>
        </p:txBody>
      </p:sp>
      <p:sp>
        <p:nvSpPr>
          <p:cNvPr id="6" name="Text 4"/>
          <p:cNvSpPr/>
          <p:nvPr/>
        </p:nvSpPr>
        <p:spPr>
          <a:xfrm>
            <a:off x="995680" y="2291080"/>
            <a:ext cx="3146389"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drop for the best model (Legal-BERT) moving from US to UK contracts (Barbosa et al., 2026)</a:t>
            </a:r>
            <a:endParaRPr lang="en-US" sz="1200" dirty="0"/>
          </a:p>
        </p:txBody>
      </p:sp>
      <p:sp>
        <p:nvSpPr>
          <p:cNvPr id="7" name="Shape 5"/>
          <p:cNvSpPr/>
          <p:nvPr/>
        </p:nvSpPr>
        <p:spPr>
          <a:xfrm>
            <a:off x="4388882" y="1679575"/>
            <a:ext cx="3414236" cy="1357630"/>
          </a:xfrm>
          <a:prstGeom prst="roundRect">
            <a:avLst>
              <a:gd name="adj" fmla="val 7250"/>
            </a:avLst>
          </a:prstGeom>
          <a:solidFill>
            <a:srgbClr val="FBF9F3"/>
          </a:solidFill>
          <a:ln w="6350">
            <a:solidFill>
              <a:srgbClr val="D9D0BC"/>
            </a:solidFill>
            <a:prstDash val="solid"/>
          </a:ln>
        </p:spPr>
      </p:sp>
      <p:sp>
        <p:nvSpPr>
          <p:cNvPr id="8" name="Text 6"/>
          <p:cNvSpPr/>
          <p:nvPr/>
        </p:nvSpPr>
        <p:spPr>
          <a:xfrm>
            <a:off x="4568587" y="1808480"/>
            <a:ext cx="314647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F6F6B"/>
                </a:solidFill>
                <a:latin typeface="EB Garamond" pitchFamily="18" charset="0"/>
                <a:ea typeface="EB Garamond" pitchFamily="18" charset="-122"/>
                <a:cs typeface="EB Garamond" pitchFamily="18" charset="-120"/>
              </a:rPr>
              <a:t>77%</a:t>
            </a:r>
            <a:endParaRPr lang="en-US" sz="3600" dirty="0"/>
          </a:p>
        </p:txBody>
      </p:sp>
      <p:sp>
        <p:nvSpPr>
          <p:cNvPr id="9" name="Text 7"/>
          <p:cNvSpPr/>
          <p:nvPr/>
        </p:nvSpPr>
        <p:spPr>
          <a:xfrm>
            <a:off x="4568587" y="2291080"/>
            <a:ext cx="3146471"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of multi-section cross-reference chains missed by the same model (Barbosa et al., 2026)</a:t>
            </a:r>
            <a:endParaRPr lang="en-US" sz="1200" dirty="0"/>
          </a:p>
        </p:txBody>
      </p:sp>
      <p:sp>
        <p:nvSpPr>
          <p:cNvPr id="10" name="Shape 8"/>
          <p:cNvSpPr/>
          <p:nvPr/>
        </p:nvSpPr>
        <p:spPr>
          <a:xfrm>
            <a:off x="7961868" y="1679575"/>
            <a:ext cx="3414157" cy="1357630"/>
          </a:xfrm>
          <a:prstGeom prst="roundRect">
            <a:avLst>
              <a:gd name="adj" fmla="val 7250"/>
            </a:avLst>
          </a:prstGeom>
          <a:solidFill>
            <a:srgbClr val="FBF9F3"/>
          </a:solidFill>
          <a:ln w="6350">
            <a:solidFill>
              <a:srgbClr val="D9D0BC"/>
            </a:solidFill>
            <a:prstDash val="solid"/>
          </a:ln>
        </p:spPr>
      </p:sp>
      <p:sp>
        <p:nvSpPr>
          <p:cNvPr id="11" name="Text 9"/>
          <p:cNvSpPr/>
          <p:nvPr/>
        </p:nvSpPr>
        <p:spPr>
          <a:xfrm>
            <a:off x="8141574" y="1808480"/>
            <a:ext cx="314638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F6F6B"/>
                </a:solidFill>
                <a:latin typeface="EB Garamond" pitchFamily="18" charset="0"/>
                <a:ea typeface="EB Garamond" pitchFamily="18" charset="-122"/>
                <a:cs typeface="EB Garamond" pitchFamily="18" charset="-120"/>
              </a:rPr>
              <a:t>≈ 0 F1</a:t>
            </a:r>
            <a:endParaRPr lang="en-US" sz="3600" dirty="0"/>
          </a:p>
        </p:txBody>
      </p:sp>
      <p:sp>
        <p:nvSpPr>
          <p:cNvPr id="12" name="Text 10"/>
          <p:cNvSpPr/>
          <p:nvPr/>
        </p:nvSpPr>
        <p:spPr>
          <a:xfrm>
            <a:off x="8141574" y="2291080"/>
            <a:ext cx="3146389"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for LLMs on rare, high-stakes clauses such as Uncapped Liability (Liu et al., 2025)</a:t>
            </a:r>
            <a:endParaRPr lang="en-US" sz="1200" dirty="0"/>
          </a:p>
        </p:txBody>
      </p:sp>
      <p:sp>
        <p:nvSpPr>
          <p:cNvPr id="13" name="Shape 11"/>
          <p:cNvSpPr/>
          <p:nvPr/>
        </p:nvSpPr>
        <p:spPr>
          <a:xfrm>
            <a:off x="815975" y="3195955"/>
            <a:ext cx="3414157" cy="1454150"/>
          </a:xfrm>
          <a:prstGeom prst="roundRect">
            <a:avLst>
              <a:gd name="adj" fmla="val 6769"/>
            </a:avLst>
          </a:prstGeom>
          <a:solidFill>
            <a:srgbClr val="FBF9F3"/>
          </a:solidFill>
          <a:ln w="6350">
            <a:solidFill>
              <a:srgbClr val="D9D0BC"/>
            </a:solidFill>
            <a:prstDash val="solid"/>
          </a:ln>
        </p:spPr>
      </p:sp>
      <p:sp>
        <p:nvSpPr>
          <p:cNvPr id="14" name="Text 12"/>
          <p:cNvSpPr/>
          <p:nvPr/>
        </p:nvSpPr>
        <p:spPr>
          <a:xfrm>
            <a:off x="995680" y="3350261"/>
            <a:ext cx="31463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03A"/>
                </a:solidFill>
                <a:latin typeface="IBM Plex Sans" pitchFamily="34" charset="0"/>
                <a:ea typeface="IBM Plex Sans" pitchFamily="34" charset="-122"/>
                <a:cs typeface="IBM Plex Sans" pitchFamily="34" charset="-120"/>
              </a:rPr>
              <a:t>Existing technical limitation</a:t>
            </a:r>
            <a:endParaRPr lang="en-US" sz="1500" dirty="0"/>
          </a:p>
        </p:txBody>
      </p:sp>
      <p:sp>
        <p:nvSpPr>
          <p:cNvPr id="15" name="Text 13"/>
          <p:cNvSpPr/>
          <p:nvPr/>
        </p:nvSpPr>
        <p:spPr>
          <a:xfrm>
            <a:off x="995680" y="3642361"/>
            <a:ext cx="3146389"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Point-in-time checking: no versioned provisions, calibrated confidence or tested explanations (Gangadhar et al., 2026; Mudhiganti, 2025).</a:t>
            </a:r>
            <a:endParaRPr lang="en-US" sz="1200" dirty="0"/>
          </a:p>
        </p:txBody>
      </p:sp>
      <p:sp>
        <p:nvSpPr>
          <p:cNvPr id="16" name="Shape 14"/>
          <p:cNvSpPr/>
          <p:nvPr/>
        </p:nvSpPr>
        <p:spPr>
          <a:xfrm>
            <a:off x="4388882" y="3195955"/>
            <a:ext cx="3414236" cy="1454150"/>
          </a:xfrm>
          <a:prstGeom prst="roundRect">
            <a:avLst>
              <a:gd name="adj" fmla="val 6769"/>
            </a:avLst>
          </a:prstGeom>
          <a:solidFill>
            <a:srgbClr val="FBF9F3"/>
          </a:solidFill>
          <a:ln w="6350">
            <a:solidFill>
              <a:srgbClr val="D9D0BC"/>
            </a:solidFill>
            <a:prstDash val="solid"/>
          </a:ln>
        </p:spPr>
      </p:sp>
      <p:sp>
        <p:nvSpPr>
          <p:cNvPr id="17" name="Text 15"/>
          <p:cNvSpPr/>
          <p:nvPr/>
        </p:nvSpPr>
        <p:spPr>
          <a:xfrm>
            <a:off x="4568587" y="3350261"/>
            <a:ext cx="314647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03A"/>
                </a:solidFill>
                <a:latin typeface="IBM Plex Sans" pitchFamily="34" charset="0"/>
                <a:ea typeface="IBM Plex Sans" pitchFamily="34" charset="-122"/>
                <a:cs typeface="IBM Plex Sans" pitchFamily="34" charset="-120"/>
              </a:rPr>
              <a:t>Dataset and domain evidence</a:t>
            </a:r>
            <a:endParaRPr lang="en-US" sz="1500" dirty="0"/>
          </a:p>
        </p:txBody>
      </p:sp>
      <p:sp>
        <p:nvSpPr>
          <p:cNvPr id="18" name="Text 16"/>
          <p:cNvSpPr/>
          <p:nvPr/>
        </p:nvSpPr>
        <p:spPr>
          <a:xfrm>
            <a:off x="4568587" y="3642361"/>
            <a:ext cx="3146471"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CUAD (510 contracts, 41 clause types) cites no statute. Sri Lanka Acts (3,976 documents) hold dated law but no clause labels.</a:t>
            </a:r>
            <a:endParaRPr lang="en-US" sz="1200" dirty="0"/>
          </a:p>
        </p:txBody>
      </p:sp>
      <p:sp>
        <p:nvSpPr>
          <p:cNvPr id="19" name="Shape 17"/>
          <p:cNvSpPr/>
          <p:nvPr/>
        </p:nvSpPr>
        <p:spPr>
          <a:xfrm>
            <a:off x="7961868" y="3195955"/>
            <a:ext cx="3414157" cy="1454150"/>
          </a:xfrm>
          <a:prstGeom prst="roundRect">
            <a:avLst>
              <a:gd name="adj" fmla="val 6769"/>
            </a:avLst>
          </a:prstGeom>
          <a:solidFill>
            <a:srgbClr val="FBF9F3"/>
          </a:solidFill>
          <a:ln w="6350">
            <a:solidFill>
              <a:srgbClr val="D9D0BC"/>
            </a:solidFill>
            <a:prstDash val="solid"/>
          </a:ln>
        </p:spPr>
      </p:sp>
      <p:sp>
        <p:nvSpPr>
          <p:cNvPr id="20" name="Text 18"/>
          <p:cNvSpPr/>
          <p:nvPr/>
        </p:nvSpPr>
        <p:spPr>
          <a:xfrm>
            <a:off x="8141574" y="3350261"/>
            <a:ext cx="31463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03A"/>
                </a:solidFill>
                <a:latin typeface="IBM Plex Sans" pitchFamily="34" charset="0"/>
                <a:ea typeface="IBM Plex Sans" pitchFamily="34" charset="-122"/>
                <a:cs typeface="IBM Plex Sans" pitchFamily="34" charset="-120"/>
              </a:rPr>
              <a:t>Impact or consequence</a:t>
            </a:r>
            <a:endParaRPr lang="en-US" sz="1500" dirty="0"/>
          </a:p>
        </p:txBody>
      </p:sp>
      <p:sp>
        <p:nvSpPr>
          <p:cNvPr id="21" name="Text 19"/>
          <p:cNvSpPr/>
          <p:nvPr/>
        </p:nvSpPr>
        <p:spPr>
          <a:xfrm>
            <a:off x="8141574" y="3642361"/>
            <a:ext cx="31463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Undetected compliance drift exposes organisations to legal or financial liability that may surface only months later.</a:t>
            </a:r>
            <a:endParaRPr lang="en-US" sz="1200" dirty="0"/>
          </a:p>
        </p:txBody>
      </p:sp>
      <p:sp>
        <p:nvSpPr>
          <p:cNvPr id="22" name="Shape 20"/>
          <p:cNvSpPr/>
          <p:nvPr/>
        </p:nvSpPr>
        <p:spPr>
          <a:xfrm>
            <a:off x="812800" y="4805680"/>
            <a:ext cx="10566400" cy="1010920"/>
          </a:xfrm>
          <a:prstGeom prst="roundRect">
            <a:avLst>
              <a:gd name="adj" fmla="val 10050"/>
            </a:avLst>
          </a:prstGeom>
          <a:solidFill>
            <a:srgbClr val="12203A"/>
          </a:solidFill>
          <a:ln/>
        </p:spPr>
      </p:sp>
      <p:sp>
        <p:nvSpPr>
          <p:cNvPr id="23" name="Text 21"/>
          <p:cNvSpPr/>
          <p:nvPr/>
        </p:nvSpPr>
        <p:spPr>
          <a:xfrm>
            <a:off x="1016000" y="4945380"/>
            <a:ext cx="104648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B25A"/>
                </a:solidFill>
                <a:latin typeface="IBM Plex Sans" pitchFamily="34" charset="0"/>
                <a:ea typeface="IBM Plex Sans" pitchFamily="34" charset="-122"/>
                <a:cs typeface="IBM Plex Sans" pitchFamily="34" charset="-120"/>
              </a:rPr>
              <a:t>PROBLEM STATEMENT</a:t>
            </a:r>
            <a:endParaRPr lang="en-US" sz="1200" dirty="0"/>
          </a:p>
        </p:txBody>
      </p:sp>
      <p:sp>
        <p:nvSpPr>
          <p:cNvPr id="24" name="Text 22"/>
          <p:cNvSpPr/>
          <p:nvPr/>
        </p:nvSpPr>
        <p:spPr>
          <a:xfrm>
            <a:off x="1016000" y="5196841"/>
            <a:ext cx="1046480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EFE4"/>
                </a:solidFill>
                <a:latin typeface="IBM Plex Sans" pitchFamily="34" charset="0"/>
                <a:ea typeface="IBM Plex Sans" pitchFamily="34" charset="-122"/>
                <a:cs typeface="IBM Plex Sans" pitchFamily="34" charset="-120"/>
              </a:rPr>
              <a:t>Current AI contract tools do not combine clause-level risk explanations traceable to a specific, dated legal provision with a way to detect when that provision changes.</a:t>
            </a:r>
            <a:endParaRPr lang="en-US" sz="1400" dirty="0"/>
          </a:p>
        </p:txBody>
      </p:sp>
      <p:sp>
        <p:nvSpPr>
          <p:cNvPr id="25" name="Text 23"/>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Barbosa et al. (2026); Liu et al. (2025); Senaratna et al. (2026)</a:t>
            </a:r>
            <a:endParaRPr lang="en-US" sz="1200" dirty="0"/>
          </a:p>
        </p:txBody>
      </p:sp>
      <p:sp>
        <p:nvSpPr>
          <p:cNvPr id="26" name="Text 2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6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04 · AIM, OBJECTIVES AND SUCCESS CRITERIA</a:t>
            </a:r>
            <a:endParaRPr lang="en-US" sz="1200" dirty="0"/>
          </a:p>
        </p:txBody>
      </p:sp>
      <p:sp>
        <p:nvSpPr>
          <p:cNvPr id="3" name="Text 1"/>
          <p:cNvSpPr/>
          <p:nvPr>
            <p:ph type="title"/>
          </p:nvPr>
        </p:nvSpPr>
        <p:spPr>
          <a:xfrm>
            <a:off x="812800" y="10769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3A"/>
                </a:solidFill>
                <a:latin typeface="EB Garamond" pitchFamily="18" charset="0"/>
                <a:ea typeface="EB Garamond" pitchFamily="18" charset="-122"/>
                <a:cs typeface="EB Garamond" pitchFamily="18" charset="-120"/>
              </a:rPr>
              <a:t>Design, build and test a system that tracks the law</a:t>
            </a:r>
            <a:endParaRPr lang="en-US" sz="3200" dirty="0"/>
          </a:p>
        </p:txBody>
      </p:sp>
      <p:sp>
        <p:nvSpPr>
          <p:cNvPr id="4" name="Shape 2"/>
          <p:cNvSpPr/>
          <p:nvPr/>
        </p:nvSpPr>
        <p:spPr>
          <a:xfrm>
            <a:off x="812800" y="1676400"/>
            <a:ext cx="10566400" cy="1049020"/>
          </a:xfrm>
          <a:prstGeom prst="roundRect">
            <a:avLst>
              <a:gd name="adj" fmla="val 9685"/>
            </a:avLst>
          </a:prstGeom>
          <a:solidFill>
            <a:srgbClr val="12203A"/>
          </a:solidFill>
          <a:ln/>
        </p:spPr>
      </p:sp>
      <p:sp>
        <p:nvSpPr>
          <p:cNvPr id="5" name="Text 3"/>
          <p:cNvSpPr/>
          <p:nvPr/>
        </p:nvSpPr>
        <p:spPr>
          <a:xfrm>
            <a:off x="1016000" y="1828800"/>
            <a:ext cx="104648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B25A"/>
                </a:solidFill>
                <a:latin typeface="IBM Plex Sans" pitchFamily="34" charset="0"/>
                <a:ea typeface="IBM Plex Sans" pitchFamily="34" charset="-122"/>
                <a:cs typeface="IBM Plex Sans" pitchFamily="34" charset="-120"/>
              </a:rPr>
              <a:t>AIM</a:t>
            </a:r>
            <a:endParaRPr lang="en-US" sz="1200" dirty="0"/>
          </a:p>
        </p:txBody>
      </p:sp>
      <p:sp>
        <p:nvSpPr>
          <p:cNvPr id="6" name="Text 4"/>
          <p:cNvSpPr/>
          <p:nvPr/>
        </p:nvSpPr>
        <p:spPr>
          <a:xfrm>
            <a:off x="1016000" y="2092961"/>
            <a:ext cx="1046480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EFE4"/>
                </a:solidFill>
                <a:latin typeface="IBM Plex Sans" pitchFamily="34" charset="0"/>
                <a:ea typeface="IBM Plex Sans" pitchFamily="34" charset="-122"/>
                <a:cs typeface="IBM Plex Sans" pitchFamily="34" charset="-120"/>
              </a:rPr>
              <a:t>To design, develop and evaluate an explainable AI-powered contract intelligence system for clause-level risk assessment and temporal compliance monitoring of English-language commercial contracts against Sri Lankan legal provisions.</a:t>
            </a:r>
            <a:endParaRPr lang="en-US" sz="1400" dirty="0"/>
          </a:p>
        </p:txBody>
      </p:sp>
      <p:sp>
        <p:nvSpPr>
          <p:cNvPr id="7" name="Shape 5"/>
          <p:cNvSpPr/>
          <p:nvPr/>
        </p:nvSpPr>
        <p:spPr>
          <a:xfrm>
            <a:off x="815975" y="2880996"/>
            <a:ext cx="5200650" cy="2246630"/>
          </a:xfrm>
          <a:prstGeom prst="roundRect">
            <a:avLst>
              <a:gd name="adj" fmla="val 4381"/>
            </a:avLst>
          </a:prstGeom>
          <a:solidFill>
            <a:srgbClr val="FBF9F3"/>
          </a:solidFill>
          <a:ln w="6350">
            <a:solidFill>
              <a:srgbClr val="D2C8B2"/>
            </a:solidFill>
            <a:prstDash val="solid"/>
          </a:ln>
        </p:spPr>
      </p:sp>
      <p:sp>
        <p:nvSpPr>
          <p:cNvPr id="8" name="Text 6"/>
          <p:cNvSpPr/>
          <p:nvPr/>
        </p:nvSpPr>
        <p:spPr>
          <a:xfrm>
            <a:off x="995680" y="3035300"/>
            <a:ext cx="49864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6F6B"/>
                </a:solidFill>
                <a:latin typeface="IBM Plex Sans" pitchFamily="34" charset="0"/>
                <a:ea typeface="IBM Plex Sans" pitchFamily="34" charset="-122"/>
                <a:cs typeface="IBM Plex Sans" pitchFamily="34" charset="-120"/>
              </a:rPr>
              <a:t>Objectives</a:t>
            </a:r>
            <a:endParaRPr lang="en-US" sz="1600" dirty="0"/>
          </a:p>
        </p:txBody>
      </p:sp>
      <p:sp>
        <p:nvSpPr>
          <p:cNvPr id="9" name="Text 7"/>
          <p:cNvSpPr/>
          <p:nvPr/>
        </p:nvSpPr>
        <p:spPr>
          <a:xfrm>
            <a:off x="995680" y="3342639"/>
            <a:ext cx="49864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RO1</a:t>
            </a:r>
            <a:r>
              <a:rPr lang="en-US" sz="1200" dirty="0">
                <a:solidFill>
                  <a:srgbClr val="2F3A4D"/>
                </a:solidFill>
                <a:latin typeface="IBM Plex Sans" pitchFamily="34" charset="0"/>
                <a:ea typeface="IBM Plex Sans" pitchFamily="34" charset="-122"/>
                <a:cs typeface="IBM Plex Sans" pitchFamily="34" charset="-120"/>
              </a:rPr>
              <a:t> Analyse limits of existing contract tools and legal XAI</a:t>
            </a:r>
            <a:endParaRPr lang="en-US" sz="1200" dirty="0"/>
          </a:p>
        </p:txBody>
      </p:sp>
      <p:sp>
        <p:nvSpPr>
          <p:cNvPr id="10" name="Text 8"/>
          <p:cNvSpPr/>
          <p:nvPr/>
        </p:nvSpPr>
        <p:spPr>
          <a:xfrm>
            <a:off x="995680" y="3611882"/>
            <a:ext cx="49864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RO2</a:t>
            </a:r>
            <a:r>
              <a:rPr lang="en-US" sz="1200" dirty="0">
                <a:solidFill>
                  <a:srgbClr val="2F3A4D"/>
                </a:solidFill>
                <a:latin typeface="IBM Plex Sans" pitchFamily="34" charset="0"/>
                <a:ea typeface="IBM Plex Sans" pitchFamily="34" charset="-122"/>
                <a:cs typeface="IBM Plex Sans" pitchFamily="34" charset="-120"/>
              </a:rPr>
              <a:t> Define functional, non-functional and data requirements</a:t>
            </a:r>
            <a:endParaRPr lang="en-US" sz="1200" dirty="0"/>
          </a:p>
        </p:txBody>
      </p:sp>
      <p:sp>
        <p:nvSpPr>
          <p:cNvPr id="11" name="Text 9"/>
          <p:cNvSpPr/>
          <p:nvPr/>
        </p:nvSpPr>
        <p:spPr>
          <a:xfrm>
            <a:off x="995680" y="3881121"/>
            <a:ext cx="49864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RO3</a:t>
            </a:r>
            <a:r>
              <a:rPr lang="en-US" sz="1200" dirty="0">
                <a:solidFill>
                  <a:srgbClr val="2F3A4D"/>
                </a:solidFill>
                <a:latin typeface="IBM Plex Sans" pitchFamily="34" charset="0"/>
                <a:ea typeface="IBM Plex Sans" pitchFamily="34" charset="-122"/>
                <a:cs typeface="IBM Plex Sans" pitchFamily="34" charset="-120"/>
              </a:rPr>
              <a:t> Design a modular architecture: classify, explain, monitor</a:t>
            </a:r>
            <a:endParaRPr lang="en-US" sz="1200" dirty="0"/>
          </a:p>
        </p:txBody>
      </p:sp>
      <p:sp>
        <p:nvSpPr>
          <p:cNvPr id="12" name="Text 10"/>
          <p:cNvSpPr/>
          <p:nvPr/>
        </p:nvSpPr>
        <p:spPr>
          <a:xfrm>
            <a:off x="995680" y="4150361"/>
            <a:ext cx="49864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RO4</a:t>
            </a:r>
            <a:r>
              <a:rPr lang="en-US" sz="1200" dirty="0">
                <a:solidFill>
                  <a:srgbClr val="2F3A4D"/>
                </a:solidFill>
                <a:latin typeface="IBM Plex Sans" pitchFamily="34" charset="0"/>
                <a:ea typeface="IBM Plex Sans" pitchFamily="34" charset="-122"/>
                <a:cs typeface="IBM Plex Sans" pitchFamily="34" charset="-120"/>
              </a:rPr>
              <a:t> Implement it with non-explainable and snapshot baselines</a:t>
            </a:r>
            <a:endParaRPr lang="en-US" sz="1200" dirty="0"/>
          </a:p>
        </p:txBody>
      </p:sp>
      <p:sp>
        <p:nvSpPr>
          <p:cNvPr id="13" name="Text 11"/>
          <p:cNvSpPr/>
          <p:nvPr/>
        </p:nvSpPr>
        <p:spPr>
          <a:xfrm>
            <a:off x="995680" y="4419600"/>
            <a:ext cx="49864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RO5</a:t>
            </a:r>
            <a:r>
              <a:rPr lang="en-US" sz="1200" dirty="0">
                <a:solidFill>
                  <a:srgbClr val="2F3A4D"/>
                </a:solidFill>
                <a:latin typeface="IBM Plex Sans" pitchFamily="34" charset="0"/>
                <a:ea typeface="IBM Plex Sans" pitchFamily="34" charset="-122"/>
                <a:cs typeface="IBM Plex Sans" pitchFamily="34" charset="-120"/>
              </a:rPr>
              <a:t> Evaluate accuracy, explanation faithfulness and drift detection</a:t>
            </a:r>
            <a:endParaRPr lang="en-US" sz="1200" dirty="0"/>
          </a:p>
        </p:txBody>
      </p:sp>
      <p:sp>
        <p:nvSpPr>
          <p:cNvPr id="14" name="Text 12"/>
          <p:cNvSpPr/>
          <p:nvPr/>
        </p:nvSpPr>
        <p:spPr>
          <a:xfrm>
            <a:off x="995680" y="4688839"/>
            <a:ext cx="49864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RO6</a:t>
            </a:r>
            <a:r>
              <a:rPr lang="en-US" sz="1200" dirty="0">
                <a:solidFill>
                  <a:srgbClr val="2F3A4D"/>
                </a:solidFill>
                <a:latin typeface="IBM Plex Sans" pitchFamily="34" charset="0"/>
                <a:ea typeface="IBM Plex Sans" pitchFamily="34" charset="-122"/>
                <a:cs typeface="IBM Plex Sans" pitchFamily="34" charset="-120"/>
              </a:rPr>
              <a:t> Analyse legal, ethical and professional implications</a:t>
            </a:r>
            <a:endParaRPr lang="en-US" sz="1200" dirty="0"/>
          </a:p>
        </p:txBody>
      </p:sp>
      <p:sp>
        <p:nvSpPr>
          <p:cNvPr id="15" name="Shape 13"/>
          <p:cNvSpPr/>
          <p:nvPr/>
        </p:nvSpPr>
        <p:spPr>
          <a:xfrm>
            <a:off x="6175375" y="2880996"/>
            <a:ext cx="5200650" cy="2246630"/>
          </a:xfrm>
          <a:prstGeom prst="roundRect">
            <a:avLst>
              <a:gd name="adj" fmla="val 4381"/>
            </a:avLst>
          </a:prstGeom>
          <a:solidFill>
            <a:srgbClr val="FBF9F3"/>
          </a:solidFill>
          <a:ln w="6350">
            <a:solidFill>
              <a:srgbClr val="D2C8B2"/>
            </a:solidFill>
            <a:prstDash val="solid"/>
          </a:ln>
        </p:spPr>
      </p:sp>
      <p:sp>
        <p:nvSpPr>
          <p:cNvPr id="16" name="Text 14"/>
          <p:cNvSpPr/>
          <p:nvPr/>
        </p:nvSpPr>
        <p:spPr>
          <a:xfrm>
            <a:off x="6355080" y="3035300"/>
            <a:ext cx="49864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6F6B"/>
                </a:solidFill>
                <a:latin typeface="IBM Plex Sans" pitchFamily="34" charset="0"/>
                <a:ea typeface="IBM Plex Sans" pitchFamily="34" charset="-122"/>
                <a:cs typeface="IBM Plex Sans" pitchFamily="34" charset="-120"/>
              </a:rPr>
              <a:t>Success criteria</a:t>
            </a:r>
            <a:endParaRPr lang="en-US" sz="1600" dirty="0"/>
          </a:p>
        </p:txBody>
      </p:sp>
      <p:sp>
        <p:nvSpPr>
          <p:cNvPr id="17" name="Text 15"/>
          <p:cNvSpPr/>
          <p:nvPr/>
        </p:nvSpPr>
        <p:spPr>
          <a:xfrm>
            <a:off x="6355080" y="3342639"/>
            <a:ext cx="4986477"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H1</a:t>
            </a:r>
            <a:r>
              <a:rPr lang="en-US" sz="1200" dirty="0">
                <a:solidFill>
                  <a:srgbClr val="2F3A4D"/>
                </a:solidFill>
                <a:latin typeface="IBM Plex Sans" pitchFamily="34" charset="0"/>
                <a:ea typeface="IBM Plex Sans" pitchFamily="34" charset="-122"/>
                <a:cs typeface="IBM Plex Sans" pitchFamily="34" charset="-120"/>
              </a:rPr>
              <a:t> The legal-domain transformer beats the TF-IDF and general transformer baselines on macro-F1, on the same split</a:t>
            </a:r>
            <a:endParaRPr lang="en-US" sz="1200" dirty="0"/>
          </a:p>
        </p:txBody>
      </p:sp>
      <p:sp>
        <p:nvSpPr>
          <p:cNvPr id="18" name="Text 16"/>
          <p:cNvSpPr/>
          <p:nvPr/>
        </p:nvSpPr>
        <p:spPr>
          <a:xfrm>
            <a:off x="6355080" y="3817621"/>
            <a:ext cx="4986477"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H2</a:t>
            </a:r>
            <a:r>
              <a:rPr lang="en-US" sz="1200" dirty="0">
                <a:solidFill>
                  <a:srgbClr val="2F3A4D"/>
                </a:solidFill>
                <a:latin typeface="IBM Plex Sans" pitchFamily="34" charset="0"/>
                <a:ea typeface="IBM Plex Sans" pitchFamily="34" charset="-122"/>
                <a:cs typeface="IBM Plex Sans" pitchFamily="34" charset="-120"/>
              </a:rPr>
              <a:t> Argumentation-informed explanations are at least as faithful as attribution ones, and add legal traceability</a:t>
            </a:r>
            <a:endParaRPr lang="en-US" sz="1200" dirty="0"/>
          </a:p>
        </p:txBody>
      </p:sp>
      <p:sp>
        <p:nvSpPr>
          <p:cNvPr id="19" name="Text 17"/>
          <p:cNvSpPr/>
          <p:nvPr/>
        </p:nvSpPr>
        <p:spPr>
          <a:xfrm>
            <a:off x="6355080" y="4292600"/>
            <a:ext cx="4986477"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H3</a:t>
            </a:r>
            <a:r>
              <a:rPr lang="en-US" sz="1200" dirty="0">
                <a:solidFill>
                  <a:srgbClr val="2F3A4D"/>
                </a:solidFill>
                <a:latin typeface="IBM Plex Sans" pitchFamily="34" charset="0"/>
                <a:ea typeface="IBM Plex Sans" pitchFamily="34" charset="-122"/>
                <a:cs typeface="IBM Plex Sans" pitchFamily="34" charset="-120"/>
              </a:rPr>
              <a:t> The monitor detects a majority of simulated amendments at an acceptable false alarm rate</a:t>
            </a:r>
            <a:endParaRPr lang="en-US" sz="1200" dirty="0"/>
          </a:p>
        </p:txBody>
      </p:sp>
      <p:sp>
        <p:nvSpPr>
          <p:cNvPr id="20" name="Text 18"/>
          <p:cNvSpPr/>
          <p:nvPr/>
        </p:nvSpPr>
        <p:spPr>
          <a:xfrm>
            <a:off x="6355080" y="4767582"/>
            <a:ext cx="49864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Plus</a:t>
            </a:r>
            <a:r>
              <a:rPr lang="en-US" sz="1200" dirty="0">
                <a:solidFill>
                  <a:srgbClr val="2F3A4D"/>
                </a:solidFill>
                <a:latin typeface="IBM Plex Sans" pitchFamily="34" charset="0"/>
                <a:ea typeface="IBM Plex Sans" pitchFamily="34" charset="-122"/>
                <a:cs typeface="IBM Plex Sans" pitchFamily="34" charset="-120"/>
              </a:rPr>
              <a:t> Every result reproducible from its saved configuration and seed</a:t>
            </a:r>
            <a:endParaRPr lang="en-US" sz="1200" dirty="0"/>
          </a:p>
        </p:txBody>
      </p:sp>
      <p:sp>
        <p:nvSpPr>
          <p:cNvPr id="21" name="Text 19"/>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Project proposal, sections 1.9, 1.10 and 3.3</a:t>
            </a:r>
            <a:endParaRPr lang="en-US" sz="1200" dirty="0"/>
          </a:p>
        </p:txBody>
      </p:sp>
      <p:sp>
        <p:nvSpPr>
          <p:cNvPr id="22" name="Text 20"/>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05 · BACKGROUND REVIEW</a:t>
            </a:r>
            <a:endParaRPr lang="en-US" sz="1200" dirty="0"/>
          </a:p>
        </p:txBody>
      </p:sp>
      <p:sp>
        <p:nvSpPr>
          <p:cNvPr id="3" name="Text 1"/>
          <p:cNvSpPr/>
          <p:nvPr>
            <p:ph type="title"/>
          </p:nvPr>
        </p:nvSpPr>
        <p:spPr>
          <a:xfrm>
            <a:off x="812800" y="10769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3A"/>
                </a:solidFill>
                <a:latin typeface="EB Garamond" pitchFamily="18" charset="0"/>
                <a:ea typeface="EB Garamond" pitchFamily="18" charset="-122"/>
                <a:cs typeface="EB Garamond" pitchFamily="18" charset="-120"/>
              </a:rPr>
              <a:t>The building blocks exist separately, never together</a:t>
            </a:r>
            <a:endParaRPr lang="en-US" sz="3200" dirty="0"/>
          </a:p>
        </p:txBody>
      </p:sp>
      <p:sp>
        <p:nvSpPr>
          <p:cNvPr id="4" name="Shape 2"/>
          <p:cNvSpPr/>
          <p:nvPr/>
        </p:nvSpPr>
        <p:spPr>
          <a:xfrm>
            <a:off x="815975" y="1704975"/>
            <a:ext cx="5200650" cy="1921510"/>
          </a:xfrm>
          <a:prstGeom prst="roundRect">
            <a:avLst>
              <a:gd name="adj" fmla="val 5122"/>
            </a:avLst>
          </a:prstGeom>
          <a:solidFill>
            <a:srgbClr val="FBF9F3"/>
          </a:solidFill>
          <a:ln w="6350">
            <a:solidFill>
              <a:srgbClr val="D9D0BC"/>
            </a:solidFill>
            <a:prstDash val="solid"/>
          </a:ln>
        </p:spPr>
      </p:sp>
      <p:sp>
        <p:nvSpPr>
          <p:cNvPr id="5" name="Text 3"/>
          <p:cNvSpPr/>
          <p:nvPr/>
        </p:nvSpPr>
        <p:spPr>
          <a:xfrm>
            <a:off x="1021080" y="1871982"/>
            <a:ext cx="493415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6F6B"/>
                </a:solidFill>
                <a:latin typeface="IBM Plex Sans" pitchFamily="34" charset="0"/>
                <a:ea typeface="IBM Plex Sans" pitchFamily="34" charset="-122"/>
                <a:cs typeface="IBM Plex Sans" pitchFamily="34" charset="-120"/>
              </a:rPr>
              <a:t>1 · Existing approaches</a:t>
            </a:r>
            <a:endParaRPr lang="en-US" sz="1600" dirty="0"/>
          </a:p>
        </p:txBody>
      </p:sp>
      <p:sp>
        <p:nvSpPr>
          <p:cNvPr id="6" name="Text 4"/>
          <p:cNvSpPr/>
          <p:nvPr/>
        </p:nvSpPr>
        <p:spPr>
          <a:xfrm>
            <a:off x="1119886" y="2179321"/>
            <a:ext cx="4827727" cy="130556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Transformer encoders adapted to legal text, such as Legal-BERT (Chalkidis et al., 2020)</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LLM and multi-agent RAG tools that retrieve statutes (Kanagamalliga et al., 2025)</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SHAP and LIME attribution, and argumentation-based legal explanation (Prajescu and Confalonieri, 2025)</a:t>
            </a:r>
            <a:endParaRPr lang="en-US" sz="1200" dirty="0"/>
          </a:p>
        </p:txBody>
      </p:sp>
      <p:sp>
        <p:nvSpPr>
          <p:cNvPr id="7" name="Shape 5"/>
          <p:cNvSpPr/>
          <p:nvPr/>
        </p:nvSpPr>
        <p:spPr>
          <a:xfrm>
            <a:off x="6175375" y="1704975"/>
            <a:ext cx="5200650" cy="1921510"/>
          </a:xfrm>
          <a:prstGeom prst="roundRect">
            <a:avLst>
              <a:gd name="adj" fmla="val 5122"/>
            </a:avLst>
          </a:prstGeom>
          <a:solidFill>
            <a:srgbClr val="FBF9F3"/>
          </a:solidFill>
          <a:ln w="6350">
            <a:solidFill>
              <a:srgbClr val="D9D0BC"/>
            </a:solidFill>
            <a:prstDash val="solid"/>
          </a:ln>
        </p:spPr>
      </p:sp>
      <p:sp>
        <p:nvSpPr>
          <p:cNvPr id="8" name="Text 6"/>
          <p:cNvSpPr/>
          <p:nvPr/>
        </p:nvSpPr>
        <p:spPr>
          <a:xfrm>
            <a:off x="6380480" y="1871982"/>
            <a:ext cx="493415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6F6B"/>
                </a:solidFill>
                <a:latin typeface="IBM Plex Sans" pitchFamily="34" charset="0"/>
                <a:ea typeface="IBM Plex Sans" pitchFamily="34" charset="-122"/>
                <a:cs typeface="IBM Plex Sans" pitchFamily="34" charset="-120"/>
              </a:rPr>
              <a:t>2 · Common datasets and inputs</a:t>
            </a:r>
            <a:endParaRPr lang="en-US" sz="1600" dirty="0"/>
          </a:p>
        </p:txBody>
      </p:sp>
      <p:sp>
        <p:nvSpPr>
          <p:cNvPr id="9" name="Text 7"/>
          <p:cNvSpPr/>
          <p:nvPr/>
        </p:nvSpPr>
        <p:spPr>
          <a:xfrm>
            <a:off x="6479286" y="2179321"/>
            <a:ext cx="4827727" cy="87884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CUAD: 510 contracts, 13,101 expert annotations, 41 clause types</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LEDGAR (about 846k provisions) and ContractNLI (607 NDAs)</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Sri Lanka Acts (3,976 documents) and Gazettes (about 105k) as dated law (Senaratna et al., 2026)</a:t>
            </a:r>
            <a:endParaRPr lang="en-US" sz="1200" dirty="0"/>
          </a:p>
        </p:txBody>
      </p:sp>
      <p:sp>
        <p:nvSpPr>
          <p:cNvPr id="10" name="Shape 8"/>
          <p:cNvSpPr/>
          <p:nvPr/>
        </p:nvSpPr>
        <p:spPr>
          <a:xfrm>
            <a:off x="815975" y="3785236"/>
            <a:ext cx="5200650" cy="1921510"/>
          </a:xfrm>
          <a:prstGeom prst="roundRect">
            <a:avLst>
              <a:gd name="adj" fmla="val 5122"/>
            </a:avLst>
          </a:prstGeom>
          <a:solidFill>
            <a:srgbClr val="FBF9F3"/>
          </a:solidFill>
          <a:ln w="6350">
            <a:solidFill>
              <a:srgbClr val="D9D0BC"/>
            </a:solidFill>
            <a:prstDash val="solid"/>
          </a:ln>
        </p:spPr>
      </p:sp>
      <p:sp>
        <p:nvSpPr>
          <p:cNvPr id="11" name="Text 9"/>
          <p:cNvSpPr/>
          <p:nvPr/>
        </p:nvSpPr>
        <p:spPr>
          <a:xfrm>
            <a:off x="1021080" y="3952239"/>
            <a:ext cx="493415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6F6B"/>
                </a:solidFill>
                <a:latin typeface="IBM Plex Sans" pitchFamily="34" charset="0"/>
                <a:ea typeface="IBM Plex Sans" pitchFamily="34" charset="-122"/>
                <a:cs typeface="IBM Plex Sans" pitchFamily="34" charset="-120"/>
              </a:rPr>
              <a:t>3 · Evaluation methods</a:t>
            </a:r>
            <a:endParaRPr lang="en-US" sz="1600" dirty="0"/>
          </a:p>
        </p:txBody>
      </p:sp>
      <p:sp>
        <p:nvSpPr>
          <p:cNvPr id="12" name="Text 10"/>
          <p:cNvSpPr/>
          <p:nvPr/>
        </p:nvSpPr>
        <p:spPr>
          <a:xfrm>
            <a:off x="1119886" y="4259582"/>
            <a:ext cx="4827727" cy="130556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Macro-F1 with class-level precision and recall for imbalanced clause types</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Calibration and defer-to-human thresholds (Kostopoulos et al., 2024)</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Faithfulness and stability tests for explanations (Longo et al., 2024)</a:t>
            </a:r>
            <a:endParaRPr lang="en-US" sz="1200" dirty="0"/>
          </a:p>
        </p:txBody>
      </p:sp>
      <p:sp>
        <p:nvSpPr>
          <p:cNvPr id="13" name="Shape 11"/>
          <p:cNvSpPr/>
          <p:nvPr/>
        </p:nvSpPr>
        <p:spPr>
          <a:xfrm>
            <a:off x="6172200" y="3782061"/>
            <a:ext cx="5207000" cy="1927860"/>
          </a:xfrm>
          <a:prstGeom prst="roundRect">
            <a:avLst>
              <a:gd name="adj" fmla="val 5270"/>
            </a:avLst>
          </a:prstGeom>
          <a:solidFill>
            <a:srgbClr val="12203A"/>
          </a:solidFill>
          <a:ln/>
        </p:spPr>
      </p:sp>
      <p:sp>
        <p:nvSpPr>
          <p:cNvPr id="14" name="Text 12"/>
          <p:cNvSpPr/>
          <p:nvPr/>
        </p:nvSpPr>
        <p:spPr>
          <a:xfrm>
            <a:off x="6375400" y="3947161"/>
            <a:ext cx="494461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0B25A"/>
                </a:solidFill>
                <a:latin typeface="IBM Plex Sans" pitchFamily="34" charset="0"/>
                <a:ea typeface="IBM Plex Sans" pitchFamily="34" charset="-122"/>
                <a:cs typeface="IBM Plex Sans" pitchFamily="34" charset="-120"/>
              </a:rPr>
              <a:t>4 · Limitations</a:t>
            </a:r>
            <a:endParaRPr lang="en-US" sz="1600" dirty="0"/>
          </a:p>
        </p:txBody>
      </p:sp>
      <p:sp>
        <p:nvSpPr>
          <p:cNvPr id="15" name="Text 13"/>
          <p:cNvSpPr/>
          <p:nvPr/>
        </p:nvSpPr>
        <p:spPr>
          <a:xfrm>
            <a:off x="6474206" y="4254500"/>
            <a:ext cx="4838192" cy="109220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F4EFE4"/>
                </a:solidFill>
                <a:latin typeface="IBM Plex Sans" pitchFamily="34" charset="0"/>
                <a:ea typeface="IBM Plex Sans" pitchFamily="34" charset="-122"/>
                <a:cs typeface="IBM Plex Sans" pitchFamily="34" charset="-120"/>
              </a:rPr>
              <a:t>Static checking against a single version of the law</a:t>
            </a:r>
            <a:endParaRPr lang="en-US" sz="1200" dirty="0"/>
          </a:p>
          <a:p>
            <a:pPr algn="l" marL="155194" indent="-155194">
              <a:lnSpc>
                <a:spcPts val="1680"/>
              </a:lnSpc>
              <a:buSzPct val="100000"/>
              <a:buChar char="•"/>
            </a:pPr>
            <a:r>
              <a:rPr lang="en-US" sz="1200" dirty="0">
                <a:solidFill>
                  <a:srgbClr val="F4EFE4"/>
                </a:solidFill>
                <a:latin typeface="IBM Plex Sans" pitchFamily="34" charset="0"/>
                <a:ea typeface="IBM Plex Sans" pitchFamily="34" charset="-122"/>
                <a:cs typeface="IBM Plex Sans" pitchFamily="34" charset="-120"/>
              </a:rPr>
              <a:t>US and EU centred data, with weak transfer across jurisdictions (Barbosa et al., 2026)</a:t>
            </a:r>
            <a:endParaRPr lang="en-US" sz="1200" dirty="0"/>
          </a:p>
          <a:p>
            <a:pPr algn="l" marL="155194" indent="-155194">
              <a:lnSpc>
                <a:spcPts val="1680"/>
              </a:lnSpc>
              <a:buSzPct val="100000"/>
              <a:buChar char="•"/>
            </a:pPr>
            <a:r>
              <a:rPr lang="en-US" sz="1200" dirty="0">
                <a:solidFill>
                  <a:srgbClr val="F4EFE4"/>
                </a:solidFill>
                <a:latin typeface="IBM Plex Sans" pitchFamily="34" charset="0"/>
                <a:ea typeface="IBM Plex Sans" pitchFamily="34" charset="-122"/>
                <a:cs typeface="IBM Plex Sans" pitchFamily="34" charset="-120"/>
              </a:rPr>
              <a:t>Explanation quality judged once, never as something that can expire</a:t>
            </a:r>
            <a:endParaRPr lang="en-US" sz="1200" dirty="0"/>
          </a:p>
        </p:txBody>
      </p:sp>
      <p:sp>
        <p:nvSpPr>
          <p:cNvPr id="16" name="Text 14"/>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Literature survey of 26 papers; full references on slide 14</a:t>
            </a:r>
            <a:endParaRPr lang="en-US" sz="1200" dirty="0"/>
          </a:p>
        </p:txBody>
      </p:sp>
      <p:sp>
        <p:nvSpPr>
          <p:cNvPr id="17"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6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06 · SIMILAR APPLICATIONS AND EXISTING SOLUTIONS</a:t>
            </a:r>
            <a:endParaRPr lang="en-US" sz="1200" dirty="0"/>
          </a:p>
        </p:txBody>
      </p:sp>
      <p:sp>
        <p:nvSpPr>
          <p:cNvPr id="3" name="Text 1"/>
          <p:cNvSpPr/>
          <p:nvPr>
            <p:ph type="title"/>
          </p:nvPr>
        </p:nvSpPr>
        <p:spPr>
          <a:xfrm>
            <a:off x="812800" y="10769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3A"/>
                </a:solidFill>
                <a:latin typeface="EB Garamond" pitchFamily="18" charset="0"/>
                <a:ea typeface="EB Garamond" pitchFamily="18" charset="-122"/>
                <a:cs typeface="EB Garamond" pitchFamily="18" charset="-120"/>
              </a:rPr>
              <a:t>Three working tools, three snapshot checkers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11960"/>
          <a:ext cx="10556240" cy="1960880"/>
        </p:xfrm>
        <a:graphic>
          <a:graphicData uri="http://schemas.openxmlformats.org/drawingml/2006/table">
            <a:tbl>
              <a:tblPr/>
              <a:tblGrid>
                <a:gridCol w="2322373"/>
                <a:gridCol w="4116934"/>
                <a:gridCol w="4116934"/>
              </a:tblGrid>
              <a:tr h="330200">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System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Strength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21D31"/>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Limitation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21D31"/>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r>
              <a:tr h="54356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ContractGuard (Gangadhar et al., 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Web tool on Gemini Flash 2.5 with multi-format upload, High, Medium and Low risk tiers and mitigation advice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No precision, recall or F1 reported; black-box prompting with no explanation check; no versioned law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r>
              <a:tr h="54356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Regulatory Compliance Checker (Prakash et al.,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Modular 7-step NLP and ML pipeline that maps extracted clauses to a regulatory knowledge base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Reported 92% accuracy is assumed, not validated; static rule lookup; live regulatory updates left as future 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r>
              <a:tr h="54356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Legal Analyzer (Keerthana and Kumaresh,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Fine-tuned BERT on 41 CUAD classes (macro-F1 0.819) with SHAP, LIME and GPT-3.5 mitigation advice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No statute link or amendment tracking; uncalibrated softmax; explanations not tested for faithfulness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r>
            </a:tbl>
          </a:graphicData>
        </a:graphic>
      </p:graphicFrame>
      <p:sp>
        <p:nvSpPr>
          <p:cNvPr id="5" name="Text 2"/>
          <p:cNvSpPr/>
          <p:nvPr/>
        </p:nvSpPr>
        <p:spPr>
          <a:xfrm>
            <a:off x="812800" y="3850639"/>
            <a:ext cx="10566400" cy="519430"/>
          </a:xfrm>
          <a:prstGeom prst="roundRect">
            <a:avLst>
              <a:gd name="adj" fmla="val 19560"/>
            </a:avLst>
          </a:prstGeom>
          <a:solidFill>
            <a:srgbClr val="12203A"/>
          </a:solidFill>
          <a:ln/>
        </p:spPr>
        <p:txBody>
          <a:bodyPr wrap="square" lIns="173442" tIns="109942" rIns="0" bIns="84542" rtlCol="0" anchor="t">
            <a:normAutofit/>
          </a:bodyPr>
          <a:lstStyle/>
          <a:p>
            <a:pPr algn="l" indent="0" marL="0">
              <a:lnSpc>
                <a:spcPts val="1890"/>
              </a:lnSpc>
              <a:buNone/>
            </a:pPr>
            <a:r>
              <a:rPr lang="en-US" sz="1400" dirty="0">
                <a:solidFill>
                  <a:srgbClr val="F4EFE4"/>
                </a:solidFill>
                <a:latin typeface="IBM Plex Sans" pitchFamily="34" charset="0"/>
                <a:ea typeface="IBM Plex Sans" pitchFamily="34" charset="-122"/>
                <a:cs typeface="IBM Plex Sans" pitchFamily="34" charset="-120"/>
              </a:rPr>
              <a:t>All three stop at point-in-time scoring. None links a flag to a dated provision or re-checks it when the law changes.</a:t>
            </a:r>
            <a:endParaRPr lang="en-US" sz="1400" dirty="0"/>
          </a:p>
        </p:txBody>
      </p:sp>
      <p:sp>
        <p:nvSpPr>
          <p:cNvPr id="6" name="Text 3"/>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Gangadhar et al. (2026); Prakash et al. (2025); Keerthana and Kumaresh (2025)</a:t>
            </a:r>
            <a:endParaRPr lang="en-US" sz="1200" dirty="0"/>
          </a:p>
        </p:txBody>
      </p:sp>
      <p:sp>
        <p:nvSpPr>
          <p:cNvPr id="7" name="Text 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07 · SHORTCOMING AND PROPOSED SOLUTION REQUIREMENTS</a:t>
            </a:r>
            <a:endParaRPr lang="en-US" sz="1200" dirty="0"/>
          </a:p>
        </p:txBody>
      </p:sp>
      <p:sp>
        <p:nvSpPr>
          <p:cNvPr id="3" name="Text 1"/>
          <p:cNvSpPr/>
          <p:nvPr>
            <p:ph type="title"/>
          </p:nvPr>
        </p:nvSpPr>
        <p:spPr>
          <a:xfrm>
            <a:off x="812800" y="10769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3A"/>
                </a:solidFill>
                <a:latin typeface="EB Garamond" pitchFamily="18" charset="0"/>
                <a:ea typeface="EB Garamond" pitchFamily="18" charset="-122"/>
                <a:cs typeface="EB Garamond" pitchFamily="18" charset="-120"/>
              </a:rPr>
              <a:t>No tool treats a legal explanation as something that can expire</a:t>
            </a:r>
            <a:endParaRPr lang="en-US" sz="3200" dirty="0"/>
          </a:p>
        </p:txBody>
      </p:sp>
      <p:sp>
        <p:nvSpPr>
          <p:cNvPr id="4" name="Shape 2"/>
          <p:cNvSpPr/>
          <p:nvPr/>
        </p:nvSpPr>
        <p:spPr>
          <a:xfrm>
            <a:off x="812800" y="1701800"/>
            <a:ext cx="5024120" cy="970280"/>
          </a:xfrm>
          <a:prstGeom prst="roundRect">
            <a:avLst>
              <a:gd name="adj" fmla="val 10471"/>
            </a:avLst>
          </a:prstGeom>
          <a:solidFill>
            <a:srgbClr val="12203A"/>
          </a:solidFill>
          <a:ln/>
        </p:spPr>
      </p:sp>
      <p:sp>
        <p:nvSpPr>
          <p:cNvPr id="5" name="Text 3"/>
          <p:cNvSpPr/>
          <p:nvPr/>
        </p:nvSpPr>
        <p:spPr>
          <a:xfrm>
            <a:off x="990600" y="1841500"/>
            <a:ext cx="480857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B25A"/>
                </a:solidFill>
                <a:latin typeface="IBM Plex Sans" pitchFamily="34" charset="0"/>
                <a:ea typeface="IBM Plex Sans" pitchFamily="34" charset="-122"/>
                <a:cs typeface="IBM Plex Sans" pitchFamily="34" charset="-120"/>
              </a:rPr>
              <a:t>Specific unresolved issue</a:t>
            </a:r>
            <a:endParaRPr lang="en-US" sz="1400" dirty="0"/>
          </a:p>
        </p:txBody>
      </p:sp>
      <p:sp>
        <p:nvSpPr>
          <p:cNvPr id="6" name="Text 4"/>
          <p:cNvSpPr/>
          <p:nvPr/>
        </p:nvSpPr>
        <p:spPr>
          <a:xfrm>
            <a:off x="990600" y="2105661"/>
            <a:ext cx="480857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EFE4"/>
                </a:solidFill>
                <a:latin typeface="IBM Plex Sans" pitchFamily="34" charset="0"/>
                <a:ea typeface="IBM Plex Sans" pitchFamily="34" charset="-122"/>
                <a:cs typeface="IBM Plex Sans" pitchFamily="34" charset="-120"/>
              </a:rPr>
              <a:t>Clause flags are not linked to a versioned, dated provision, and nothing re-checks them after an amendment (compliance drift).</a:t>
            </a:r>
            <a:endParaRPr lang="en-US" sz="1200" dirty="0"/>
          </a:p>
        </p:txBody>
      </p:sp>
      <p:sp>
        <p:nvSpPr>
          <p:cNvPr id="7" name="Shape 5"/>
          <p:cNvSpPr/>
          <p:nvPr/>
        </p:nvSpPr>
        <p:spPr>
          <a:xfrm>
            <a:off x="815975" y="2776857"/>
            <a:ext cx="5017770" cy="1187450"/>
          </a:xfrm>
          <a:prstGeom prst="roundRect">
            <a:avLst>
              <a:gd name="adj" fmla="val 8289"/>
            </a:avLst>
          </a:prstGeom>
          <a:solidFill>
            <a:srgbClr val="FBF9F3"/>
          </a:solidFill>
          <a:ln w="6350">
            <a:solidFill>
              <a:srgbClr val="D9D0BC"/>
            </a:solidFill>
            <a:prstDash val="solid"/>
          </a:ln>
        </p:spPr>
      </p:sp>
      <p:sp>
        <p:nvSpPr>
          <p:cNvPr id="8" name="Text 6"/>
          <p:cNvSpPr/>
          <p:nvPr/>
        </p:nvSpPr>
        <p:spPr>
          <a:xfrm>
            <a:off x="995680" y="2918461"/>
            <a:ext cx="479811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6F6B"/>
                </a:solidFill>
                <a:latin typeface="IBM Plex Sans" pitchFamily="34" charset="0"/>
                <a:ea typeface="IBM Plex Sans" pitchFamily="34" charset="-122"/>
                <a:cs typeface="IBM Plex Sans" pitchFamily="34" charset="-120"/>
              </a:rPr>
              <a:t>Evidence from sources</a:t>
            </a:r>
            <a:endParaRPr lang="en-US" sz="1400" dirty="0"/>
          </a:p>
        </p:txBody>
      </p:sp>
      <p:sp>
        <p:nvSpPr>
          <p:cNvPr id="9" name="Text 7"/>
          <p:cNvSpPr/>
          <p:nvPr/>
        </p:nvSpPr>
        <p:spPr>
          <a:xfrm>
            <a:off x="995680" y="3182621"/>
            <a:ext cx="479811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The reviewed tools check one static law snapshot (Gangadhar et al., 2026; Prakash et al., 2025). XAI work tests explanations once, at prediction time (Saeed and Omlin, 2021; Longo et al., 2024).</a:t>
            </a:r>
            <a:endParaRPr lang="en-US" sz="1200" dirty="0"/>
          </a:p>
        </p:txBody>
      </p:sp>
      <p:sp>
        <p:nvSpPr>
          <p:cNvPr id="10" name="Shape 8"/>
          <p:cNvSpPr/>
          <p:nvPr/>
        </p:nvSpPr>
        <p:spPr>
          <a:xfrm>
            <a:off x="815975" y="4072254"/>
            <a:ext cx="5017770" cy="974090"/>
          </a:xfrm>
          <a:prstGeom prst="roundRect">
            <a:avLst>
              <a:gd name="adj" fmla="val 10104"/>
            </a:avLst>
          </a:prstGeom>
          <a:solidFill>
            <a:srgbClr val="FBF9F3"/>
          </a:solidFill>
          <a:ln w="6350">
            <a:solidFill>
              <a:srgbClr val="D9D0BC"/>
            </a:solidFill>
            <a:prstDash val="solid"/>
          </a:ln>
        </p:spPr>
      </p:sp>
      <p:sp>
        <p:nvSpPr>
          <p:cNvPr id="11" name="Text 9"/>
          <p:cNvSpPr/>
          <p:nvPr/>
        </p:nvSpPr>
        <p:spPr>
          <a:xfrm>
            <a:off x="995680" y="4213864"/>
            <a:ext cx="479811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6F6B"/>
                </a:solidFill>
                <a:latin typeface="IBM Plex Sans" pitchFamily="34" charset="0"/>
                <a:ea typeface="IBM Plex Sans" pitchFamily="34" charset="-122"/>
                <a:cs typeface="IBM Plex Sans" pitchFamily="34" charset="-120"/>
              </a:rPr>
              <a:t>Why it matters here</a:t>
            </a:r>
            <a:endParaRPr lang="en-US" sz="1400" dirty="0"/>
          </a:p>
        </p:txBody>
      </p:sp>
      <p:sp>
        <p:nvSpPr>
          <p:cNvPr id="12" name="Text 10"/>
          <p:cNvSpPr/>
          <p:nvPr/>
        </p:nvSpPr>
        <p:spPr>
          <a:xfrm>
            <a:off x="995680" y="4478021"/>
            <a:ext cx="479811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It is the missing link between one-off contract review and ongoing compliance monitoring, and no published protocol measures it.</a:t>
            </a:r>
            <a:endParaRPr lang="en-US" sz="1200" dirty="0"/>
          </a:p>
        </p:txBody>
      </p:sp>
      <p:sp>
        <p:nvSpPr>
          <p:cNvPr id="13" name="Shape 11"/>
          <p:cNvSpPr/>
          <p:nvPr/>
        </p:nvSpPr>
        <p:spPr>
          <a:xfrm>
            <a:off x="5992495" y="1704975"/>
            <a:ext cx="5383530" cy="3341370"/>
          </a:xfrm>
          <a:prstGeom prst="roundRect">
            <a:avLst>
              <a:gd name="adj" fmla="val 2946"/>
            </a:avLst>
          </a:prstGeom>
          <a:solidFill>
            <a:srgbClr val="FBF9F3"/>
          </a:solidFill>
          <a:ln w="6350">
            <a:solidFill>
              <a:srgbClr val="D9D0BC"/>
            </a:solidFill>
            <a:prstDash val="solid"/>
          </a:ln>
        </p:spPr>
      </p:sp>
      <p:sp>
        <p:nvSpPr>
          <p:cNvPr id="14" name="Text 12"/>
          <p:cNvSpPr/>
          <p:nvPr/>
        </p:nvSpPr>
        <p:spPr>
          <a:xfrm>
            <a:off x="6172200" y="1846582"/>
            <a:ext cx="517484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03A"/>
                </a:solidFill>
                <a:latin typeface="IBM Plex Sans" pitchFamily="34" charset="0"/>
                <a:ea typeface="IBM Plex Sans" pitchFamily="34" charset="-122"/>
                <a:cs typeface="IBM Plex Sans" pitchFamily="34" charset="-120"/>
              </a:rPr>
              <a:t>Solution requirements</a:t>
            </a:r>
            <a:endParaRPr lang="en-US" sz="1400" dirty="0"/>
          </a:p>
        </p:txBody>
      </p:sp>
      <p:sp>
        <p:nvSpPr>
          <p:cNvPr id="15" name="Text 13"/>
          <p:cNvSpPr/>
          <p:nvPr/>
        </p:nvSpPr>
        <p:spPr>
          <a:xfrm>
            <a:off x="6172200" y="2123439"/>
            <a:ext cx="5174844"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FR-M1 · Must</a:t>
            </a:r>
            <a:r>
              <a:rPr lang="en-US" sz="1200" dirty="0">
                <a:solidFill>
                  <a:srgbClr val="2F3A4D"/>
                </a:solidFill>
                <a:latin typeface="IBM Plex Sans" pitchFamily="34" charset="0"/>
                <a:ea typeface="IBM Plex Sans" pitchFamily="34" charset="-122"/>
                <a:cs typeface="IBM Plex Sans" pitchFamily="34" charset="-120"/>
              </a:rPr>
              <a:t> Accept a contract and segment it into clauses</a:t>
            </a:r>
            <a:endParaRPr lang="en-US" sz="1200" dirty="0"/>
          </a:p>
        </p:txBody>
      </p:sp>
      <p:sp>
        <p:nvSpPr>
          <p:cNvPr id="16" name="Text 14"/>
          <p:cNvSpPr/>
          <p:nvPr/>
        </p:nvSpPr>
        <p:spPr>
          <a:xfrm>
            <a:off x="6172200" y="2392682"/>
            <a:ext cx="5174844"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FR-M2 · Must</a:t>
            </a:r>
            <a:r>
              <a:rPr lang="en-US" sz="1200" dirty="0">
                <a:solidFill>
                  <a:srgbClr val="2F3A4D"/>
                </a:solidFill>
                <a:latin typeface="IBM Plex Sans" pitchFamily="34" charset="0"/>
                <a:ea typeface="IBM Plex Sans" pitchFamily="34" charset="-122"/>
                <a:cs typeface="IBM Plex Sans" pitchFamily="34" charset="-120"/>
              </a:rPr>
              <a:t> Return a risk category, calibrated confidence and an escalation decision per clause</a:t>
            </a:r>
            <a:endParaRPr lang="en-US" sz="1200" dirty="0"/>
          </a:p>
        </p:txBody>
      </p:sp>
      <p:sp>
        <p:nvSpPr>
          <p:cNvPr id="17" name="Text 15"/>
          <p:cNvSpPr/>
          <p:nvPr/>
        </p:nvSpPr>
        <p:spPr>
          <a:xfrm>
            <a:off x="6172200" y="2867661"/>
            <a:ext cx="5174844"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FR-M3 · Must</a:t>
            </a:r>
            <a:r>
              <a:rPr lang="en-US" sz="1200" dirty="0">
                <a:solidFill>
                  <a:srgbClr val="2F3A4D"/>
                </a:solidFill>
                <a:latin typeface="IBM Plex Sans" pitchFamily="34" charset="0"/>
                <a:ea typeface="IBM Plex Sans" pitchFamily="34" charset="-122"/>
                <a:cs typeface="IBM Plex Sans" pitchFamily="34" charset="-120"/>
              </a:rPr>
              <a:t> Explain each flag with its linked provision and effective date</a:t>
            </a:r>
            <a:endParaRPr lang="en-US" sz="1200" dirty="0"/>
          </a:p>
        </p:txBody>
      </p:sp>
      <p:sp>
        <p:nvSpPr>
          <p:cNvPr id="18" name="Text 16"/>
          <p:cNvSpPr/>
          <p:nvPr/>
        </p:nvSpPr>
        <p:spPr>
          <a:xfrm>
            <a:off x="6172200" y="3342639"/>
            <a:ext cx="5174844"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FR-S1 · Should</a:t>
            </a:r>
            <a:r>
              <a:rPr lang="en-US" sz="1200" dirty="0">
                <a:solidFill>
                  <a:srgbClr val="2F3A4D"/>
                </a:solidFill>
                <a:latin typeface="IBM Plex Sans" pitchFamily="34" charset="0"/>
                <a:ea typeface="IBM Plex Sans" pitchFamily="34" charset="-122"/>
                <a:cs typeface="IBM Plex Sans" pitchFamily="34" charset="-120"/>
              </a:rPr>
              <a:t> Re-evaluate reviewed contracts when a linked provision changes</a:t>
            </a:r>
            <a:endParaRPr lang="en-US" sz="1200" dirty="0"/>
          </a:p>
        </p:txBody>
      </p:sp>
      <p:sp>
        <p:nvSpPr>
          <p:cNvPr id="19" name="Text 17"/>
          <p:cNvSpPr/>
          <p:nvPr/>
        </p:nvSpPr>
        <p:spPr>
          <a:xfrm>
            <a:off x="6172200" y="3817621"/>
            <a:ext cx="5174844"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NFR-R1 · Must</a:t>
            </a:r>
            <a:r>
              <a:rPr lang="en-US" sz="1200" dirty="0">
                <a:solidFill>
                  <a:srgbClr val="2F3A4D"/>
                </a:solidFill>
                <a:latin typeface="IBM Plex Sans" pitchFamily="34" charset="0"/>
                <a:ea typeface="IBM Plex Sans" pitchFamily="34" charset="-122"/>
                <a:cs typeface="IBM Plex Sans" pitchFamily="34" charset="-120"/>
              </a:rPr>
              <a:t> Reproduce any experiment from its saved configuration and seed</a:t>
            </a:r>
            <a:endParaRPr lang="en-US" sz="1200" dirty="0"/>
          </a:p>
        </p:txBody>
      </p:sp>
      <p:sp>
        <p:nvSpPr>
          <p:cNvPr id="20" name="Text 18"/>
          <p:cNvSpPr/>
          <p:nvPr/>
        </p:nvSpPr>
        <p:spPr>
          <a:xfrm>
            <a:off x="6172200" y="4292600"/>
            <a:ext cx="5174844"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F3A4D"/>
                </a:solidFill>
                <a:latin typeface="IBM Plex Sans" pitchFamily="34" charset="0"/>
                <a:ea typeface="IBM Plex Sans" pitchFamily="34" charset="-122"/>
                <a:cs typeface="IBM Plex Sans" pitchFamily="34" charset="-120"/>
              </a:rPr>
              <a:t>NFR-P1 · Must</a:t>
            </a:r>
            <a:r>
              <a:rPr lang="en-US" sz="1200" dirty="0">
                <a:solidFill>
                  <a:srgbClr val="2F3A4D"/>
                </a:solidFill>
                <a:latin typeface="IBM Plex Sans" pitchFamily="34" charset="0"/>
                <a:ea typeface="IBM Plex Sans" pitchFamily="34" charset="-122"/>
                <a:cs typeface="IBM Plex Sans" pitchFamily="34" charset="-120"/>
              </a:rPr>
              <a:t> Keep no personal or confidential contract content beyond the active session</a:t>
            </a:r>
            <a:endParaRPr lang="en-US" sz="1200" dirty="0"/>
          </a:p>
        </p:txBody>
      </p:sp>
      <p:sp>
        <p:nvSpPr>
          <p:cNvPr id="21" name="Text 19"/>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Technical and research gap analysis; proposal Table 3.2</a:t>
            </a:r>
            <a:endParaRPr lang="en-US" sz="1200" dirty="0"/>
          </a:p>
        </p:txBody>
      </p:sp>
      <p:sp>
        <p:nvSpPr>
          <p:cNvPr id="22" name="Text 2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0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B25A"/>
                </a:solidFill>
                <a:latin typeface="IBM Plex Sans" pitchFamily="34" charset="0"/>
                <a:ea typeface="IBM Plex Sans" pitchFamily="34" charset="-122"/>
                <a:cs typeface="IBM Plex Sans" pitchFamily="34" charset="-120"/>
              </a:rPr>
              <a:t>SLIDE 08 · PROPOSED SOLUTION OVERVIEW</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EFE4"/>
                </a:solidFill>
                <a:latin typeface="EB Garamond" pitchFamily="18" charset="0"/>
                <a:ea typeface="EB Garamond" pitchFamily="18" charset="-122"/>
                <a:cs typeface="EB Garamond" pitchFamily="18" charset="-120"/>
              </a:rPr>
              <a:t>A modular system with a temporal monitor</a:t>
            </a:r>
            <a:endParaRPr lang="en-US" sz="3200" dirty="0"/>
          </a:p>
        </p:txBody>
      </p:sp>
      <p:sp>
        <p:nvSpPr>
          <p:cNvPr id="4" name="Text 2"/>
          <p:cNvSpPr/>
          <p:nvPr/>
        </p:nvSpPr>
        <p:spPr>
          <a:xfrm>
            <a:off x="815975" y="1679575"/>
            <a:ext cx="2047954" cy="588010"/>
          </a:xfrm>
          <a:prstGeom prst="roundRect">
            <a:avLst>
              <a:gd name="adj" fmla="val 12419"/>
            </a:avLst>
          </a:prstGeom>
          <a:solidFill>
            <a:srgbClr val="1D2E4F"/>
          </a:solidFill>
          <a:ln w="6350">
            <a:solidFill>
              <a:srgbClr val="3A4D73"/>
            </a:solidFill>
            <a:prstDash val="solid"/>
          </a:ln>
        </p:spPr>
        <p:txBody>
          <a:bodyPr wrap="square" lIns="41422" tIns="69417" rIns="41422" bIns="69417" rtlCol="0" anchor="ctr">
            <a:normAutofit/>
          </a:bodyPr>
          <a:lstStyle/>
          <a:p>
            <a:pPr algn="ctr" indent="0" marL="0">
              <a:lnSpc>
                <a:spcPts val="1500"/>
              </a:lnSpc>
              <a:buNone/>
            </a:pPr>
            <a:r>
              <a:rPr lang="en-US" sz="1200" b="1" dirty="0">
                <a:solidFill>
                  <a:srgbClr val="F4EFE4"/>
                </a:solidFill>
                <a:latin typeface="IBM Plex Sans" pitchFamily="34" charset="0"/>
                <a:ea typeface="IBM Plex Sans" pitchFamily="34" charset="-122"/>
                <a:cs typeface="IBM Plex Sans" pitchFamily="34" charset="-120"/>
              </a:rPr>
              <a:t>Contract and law ingestion</a:t>
            </a:r>
            <a:endParaRPr lang="en-US" sz="1200" dirty="0"/>
          </a:p>
        </p:txBody>
      </p:sp>
      <p:sp>
        <p:nvSpPr>
          <p:cNvPr id="5" name="Text 3"/>
          <p:cNvSpPr/>
          <p:nvPr/>
        </p:nvSpPr>
        <p:spPr>
          <a:xfrm>
            <a:off x="2946479" y="1679575"/>
            <a:ext cx="2048034" cy="588010"/>
          </a:xfrm>
          <a:prstGeom prst="roundRect">
            <a:avLst>
              <a:gd name="adj" fmla="val 12419"/>
            </a:avLst>
          </a:prstGeom>
          <a:solidFill>
            <a:srgbClr val="1D2E4F"/>
          </a:solidFill>
          <a:ln w="6350">
            <a:solidFill>
              <a:srgbClr val="3A4D73"/>
            </a:solidFill>
            <a:prstDash val="solid"/>
          </a:ln>
        </p:spPr>
        <p:txBody>
          <a:bodyPr wrap="square" lIns="41420" tIns="69417" rIns="41420" bIns="69417" rtlCol="0" anchor="ctr">
            <a:normAutofit/>
          </a:bodyPr>
          <a:lstStyle/>
          <a:p>
            <a:pPr algn="ctr" indent="0" marL="0">
              <a:lnSpc>
                <a:spcPts val="1500"/>
              </a:lnSpc>
              <a:buNone/>
            </a:pPr>
            <a:r>
              <a:rPr lang="en-US" sz="1200" b="1" dirty="0">
                <a:solidFill>
                  <a:srgbClr val="F4EFE4"/>
                </a:solidFill>
                <a:latin typeface="IBM Plex Sans" pitchFamily="34" charset="0"/>
                <a:ea typeface="IBM Plex Sans" pitchFamily="34" charset="-122"/>
                <a:cs typeface="IBM Plex Sans" pitchFamily="34" charset="-120"/>
              </a:rPr>
              <a:t>Clause and provision linking</a:t>
            </a:r>
            <a:endParaRPr lang="en-US" sz="1200" dirty="0"/>
          </a:p>
        </p:txBody>
      </p:sp>
      <p:sp>
        <p:nvSpPr>
          <p:cNvPr id="6" name="Text 4"/>
          <p:cNvSpPr/>
          <p:nvPr/>
        </p:nvSpPr>
        <p:spPr>
          <a:xfrm>
            <a:off x="5077063" y="1679575"/>
            <a:ext cx="2047954" cy="588010"/>
          </a:xfrm>
          <a:prstGeom prst="roundRect">
            <a:avLst>
              <a:gd name="adj" fmla="val 12419"/>
            </a:avLst>
          </a:prstGeom>
          <a:solidFill>
            <a:srgbClr val="1D2E4F"/>
          </a:solidFill>
          <a:ln w="6350">
            <a:solidFill>
              <a:srgbClr val="3A4D73"/>
            </a:solidFill>
            <a:prstDash val="solid"/>
          </a:ln>
        </p:spPr>
        <p:txBody>
          <a:bodyPr wrap="square" lIns="41421" tIns="69417" rIns="41422" bIns="69417" rtlCol="0" anchor="ctr">
            <a:normAutofit/>
          </a:bodyPr>
          <a:lstStyle/>
          <a:p>
            <a:pPr algn="ctr" indent="0" marL="0">
              <a:lnSpc>
                <a:spcPts val="1500"/>
              </a:lnSpc>
              <a:buNone/>
            </a:pPr>
            <a:r>
              <a:rPr lang="en-US" sz="1200" b="1" dirty="0">
                <a:solidFill>
                  <a:srgbClr val="F4EFE4"/>
                </a:solidFill>
                <a:latin typeface="IBM Plex Sans" pitchFamily="34" charset="0"/>
                <a:ea typeface="IBM Plex Sans" pitchFamily="34" charset="-122"/>
                <a:cs typeface="IBM Plex Sans" pitchFamily="34" charset="-120"/>
              </a:rPr>
              <a:t>Risk classification and calibration</a:t>
            </a:r>
            <a:endParaRPr lang="en-US" sz="1200" dirty="0"/>
          </a:p>
        </p:txBody>
      </p:sp>
      <p:sp>
        <p:nvSpPr>
          <p:cNvPr id="7" name="Text 5"/>
          <p:cNvSpPr/>
          <p:nvPr/>
        </p:nvSpPr>
        <p:spPr>
          <a:xfrm>
            <a:off x="7207568" y="1679575"/>
            <a:ext cx="2048034" cy="588010"/>
          </a:xfrm>
          <a:prstGeom prst="roundRect">
            <a:avLst>
              <a:gd name="adj" fmla="val 12419"/>
            </a:avLst>
          </a:prstGeom>
          <a:solidFill>
            <a:srgbClr val="1D2E4F"/>
          </a:solidFill>
          <a:ln w="6350">
            <a:solidFill>
              <a:srgbClr val="3A4D73"/>
            </a:solidFill>
            <a:prstDash val="solid"/>
          </a:ln>
        </p:spPr>
        <p:txBody>
          <a:bodyPr wrap="square" lIns="41420" tIns="82117" rIns="41421" bIns="82117" rtlCol="0" anchor="ctr">
            <a:normAutofit/>
          </a:bodyPr>
          <a:lstStyle/>
          <a:p>
            <a:pPr algn="ctr" indent="0" marL="0">
              <a:lnSpc>
                <a:spcPts val="1500"/>
              </a:lnSpc>
              <a:buNone/>
            </a:pPr>
            <a:r>
              <a:rPr lang="en-US" sz="1200" b="1" dirty="0">
                <a:solidFill>
                  <a:srgbClr val="F4EFE4"/>
                </a:solidFill>
                <a:latin typeface="IBM Plex Sans" pitchFamily="34" charset="0"/>
                <a:ea typeface="IBM Plex Sans" pitchFamily="34" charset="-122"/>
                <a:cs typeface="IBM Plex Sans" pitchFamily="34" charset="-120"/>
              </a:rPr>
              <a:t>Explanation generation</a:t>
            </a:r>
            <a:endParaRPr lang="en-US" sz="1200" dirty="0"/>
          </a:p>
        </p:txBody>
      </p:sp>
      <p:sp>
        <p:nvSpPr>
          <p:cNvPr id="8" name="Text 6"/>
          <p:cNvSpPr/>
          <p:nvPr/>
        </p:nvSpPr>
        <p:spPr>
          <a:xfrm>
            <a:off x="9334977" y="1676400"/>
            <a:ext cx="2044224" cy="594360"/>
          </a:xfrm>
          <a:prstGeom prst="roundRect">
            <a:avLst>
              <a:gd name="adj" fmla="val 12821"/>
            </a:avLst>
          </a:prstGeom>
          <a:solidFill>
            <a:srgbClr val="E0B25A"/>
          </a:solidFill>
          <a:ln/>
        </p:spPr>
        <p:txBody>
          <a:bodyPr wrap="square" lIns="38585" tIns="71662" rIns="38585" bIns="71662" rtlCol="0" anchor="ctr">
            <a:normAutofit/>
          </a:bodyPr>
          <a:lstStyle/>
          <a:p>
            <a:pPr algn="ctr" indent="0" marL="0">
              <a:lnSpc>
                <a:spcPts val="1500"/>
              </a:lnSpc>
              <a:buNone/>
            </a:pPr>
            <a:r>
              <a:rPr lang="en-US" sz="1200" b="1" dirty="0">
                <a:solidFill>
                  <a:srgbClr val="12203A"/>
                </a:solidFill>
                <a:latin typeface="IBM Plex Sans" pitchFamily="34" charset="0"/>
                <a:ea typeface="IBM Plex Sans" pitchFamily="34" charset="-122"/>
                <a:cs typeface="IBM Plex Sans" pitchFamily="34" charset="-120"/>
              </a:rPr>
              <a:t>Temporal compliance monitor</a:t>
            </a:r>
            <a:endParaRPr lang="en-US" sz="1200" dirty="0"/>
          </a:p>
        </p:txBody>
      </p:sp>
      <p:sp>
        <p:nvSpPr>
          <p:cNvPr id="9" name="Shape 7"/>
          <p:cNvSpPr/>
          <p:nvPr/>
        </p:nvSpPr>
        <p:spPr>
          <a:xfrm>
            <a:off x="812800" y="2423164"/>
            <a:ext cx="3437414" cy="1648460"/>
          </a:xfrm>
          <a:prstGeom prst="roundRect">
            <a:avLst>
              <a:gd name="adj" fmla="val 6163"/>
            </a:avLst>
          </a:prstGeom>
          <a:solidFill>
            <a:srgbClr val="1D2E4F"/>
          </a:solidFill>
          <a:ln/>
        </p:spPr>
      </p:sp>
      <p:sp>
        <p:nvSpPr>
          <p:cNvPr id="10" name="Text 8"/>
          <p:cNvSpPr/>
          <p:nvPr/>
        </p:nvSpPr>
        <p:spPr>
          <a:xfrm>
            <a:off x="977900" y="2575564"/>
            <a:ext cx="320043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B25A"/>
                </a:solidFill>
                <a:latin typeface="IBM Plex Sans" pitchFamily="34" charset="0"/>
                <a:ea typeface="IBM Plex Sans" pitchFamily="34" charset="-122"/>
                <a:cs typeface="IBM Plex Sans" pitchFamily="34" charset="-120"/>
              </a:rPr>
              <a:t>Type of solution</a:t>
            </a:r>
            <a:endParaRPr lang="en-US" sz="1400" dirty="0"/>
          </a:p>
        </p:txBody>
      </p:sp>
      <p:sp>
        <p:nvSpPr>
          <p:cNvPr id="11" name="Text 9"/>
          <p:cNvSpPr/>
          <p:nvPr/>
        </p:nvSpPr>
        <p:spPr>
          <a:xfrm>
            <a:off x="977900" y="2852421"/>
            <a:ext cx="320043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2"/>
                </a:solidFill>
                <a:latin typeface="IBM Plex Sans" pitchFamily="34" charset="0"/>
                <a:ea typeface="IBM Plex Sans" pitchFamily="34" charset="-122"/>
                <a:cs typeface="IBM Plex Sans" pitchFamily="34" charset="-120"/>
              </a:rPr>
              <a:t>A decision-support prototype plus an experimental study. It flags clauses for review and never issues a legal verdict.</a:t>
            </a:r>
            <a:endParaRPr lang="en-US" sz="1200" dirty="0"/>
          </a:p>
        </p:txBody>
      </p:sp>
      <p:sp>
        <p:nvSpPr>
          <p:cNvPr id="12" name="Shape 10"/>
          <p:cNvSpPr/>
          <p:nvPr/>
        </p:nvSpPr>
        <p:spPr>
          <a:xfrm>
            <a:off x="4377214" y="2423164"/>
            <a:ext cx="3437493" cy="1648460"/>
          </a:xfrm>
          <a:prstGeom prst="roundRect">
            <a:avLst>
              <a:gd name="adj" fmla="val 6163"/>
            </a:avLst>
          </a:prstGeom>
          <a:solidFill>
            <a:srgbClr val="1D2E4F"/>
          </a:solidFill>
          <a:ln/>
        </p:spPr>
      </p:sp>
      <p:sp>
        <p:nvSpPr>
          <p:cNvPr id="13" name="Text 11"/>
          <p:cNvSpPr/>
          <p:nvPr/>
        </p:nvSpPr>
        <p:spPr>
          <a:xfrm>
            <a:off x="4542314" y="2575564"/>
            <a:ext cx="320051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B25A"/>
                </a:solidFill>
                <a:latin typeface="IBM Plex Sans" pitchFamily="34" charset="0"/>
                <a:ea typeface="IBM Plex Sans" pitchFamily="34" charset="-122"/>
                <a:cs typeface="IBM Plex Sans" pitchFamily="34" charset="-120"/>
              </a:rPr>
              <a:t>Input and output</a:t>
            </a:r>
            <a:endParaRPr lang="en-US" sz="1400" dirty="0"/>
          </a:p>
        </p:txBody>
      </p:sp>
      <p:sp>
        <p:nvSpPr>
          <p:cNvPr id="14" name="Text 12"/>
          <p:cNvSpPr/>
          <p:nvPr/>
        </p:nvSpPr>
        <p:spPr>
          <a:xfrm>
            <a:off x="4542314" y="2852421"/>
            <a:ext cx="3200512" cy="10922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E9F2"/>
                </a:solidFill>
                <a:latin typeface="IBM Plex Sans" pitchFamily="34" charset="0"/>
                <a:ea typeface="IBM Plex Sans" pitchFamily="34" charset="-122"/>
                <a:cs typeface="IBM Plex Sans" pitchFamily="34" charset="-120"/>
              </a:rPr>
              <a:t>In:</a:t>
            </a:r>
            <a:r>
              <a:rPr lang="en-US" sz="1200" dirty="0">
                <a:solidFill>
                  <a:srgbClr val="E4E9F2"/>
                </a:solidFill>
                <a:latin typeface="IBM Plex Sans" pitchFamily="34" charset="0"/>
                <a:ea typeface="IBM Plex Sans" pitchFamily="34" charset="-122"/>
                <a:cs typeface="IBM Plex Sans" pitchFamily="34" charset="-120"/>
              </a:rPr>
              <a:t> an English contract, plus dated Sri Lankan Acts and Gazettes.</a:t>
            </a:r>
            <a:endParaRPr lang="en-US" sz="1200" dirty="0"/>
          </a:p>
          <a:p>
            <a:pPr algn="l" indent="0" marL="0">
              <a:lnSpc>
                <a:spcPts val="1680"/>
              </a:lnSpc>
              <a:buNone/>
            </a:pPr>
            <a:r>
              <a:rPr lang="en-US" sz="1200" b="1" dirty="0">
                <a:solidFill>
                  <a:srgbClr val="E4E9F2"/>
                </a:solidFill>
                <a:latin typeface="IBM Plex Sans" pitchFamily="34" charset="0"/>
                <a:ea typeface="IBM Plex Sans" pitchFamily="34" charset="-122"/>
                <a:cs typeface="IBM Plex Sans" pitchFamily="34" charset="-120"/>
              </a:rPr>
              <a:t>Out:</a:t>
            </a:r>
            <a:r>
              <a:rPr lang="en-US" sz="1200" dirty="0">
                <a:solidFill>
                  <a:srgbClr val="E4E9F2"/>
                </a:solidFill>
                <a:latin typeface="IBM Plex Sans" pitchFamily="34" charset="0"/>
                <a:ea typeface="IBM Plex Sans" pitchFamily="34" charset="-122"/>
                <a:cs typeface="IBM Plex Sans" pitchFamily="34" charset="-120"/>
              </a:rPr>
              <a:t> per clause, a risk flag, calibrated confidence, the cited provision with its date, and a drift alert after an amendment.</a:t>
            </a:r>
            <a:endParaRPr lang="en-US" sz="1200" dirty="0"/>
          </a:p>
        </p:txBody>
      </p:sp>
      <p:sp>
        <p:nvSpPr>
          <p:cNvPr id="15" name="Shape 13"/>
          <p:cNvSpPr/>
          <p:nvPr/>
        </p:nvSpPr>
        <p:spPr>
          <a:xfrm>
            <a:off x="7941707" y="2423164"/>
            <a:ext cx="3437493" cy="1648460"/>
          </a:xfrm>
          <a:prstGeom prst="roundRect">
            <a:avLst>
              <a:gd name="adj" fmla="val 6163"/>
            </a:avLst>
          </a:prstGeom>
          <a:solidFill>
            <a:srgbClr val="1D2E4F"/>
          </a:solidFill>
          <a:ln/>
        </p:spPr>
      </p:sp>
      <p:sp>
        <p:nvSpPr>
          <p:cNvPr id="16" name="Text 14"/>
          <p:cNvSpPr/>
          <p:nvPr/>
        </p:nvSpPr>
        <p:spPr>
          <a:xfrm>
            <a:off x="8106807" y="2575564"/>
            <a:ext cx="320051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B25A"/>
                </a:solidFill>
                <a:latin typeface="IBM Plex Sans" pitchFamily="34" charset="0"/>
                <a:ea typeface="IBM Plex Sans" pitchFamily="34" charset="-122"/>
                <a:cs typeface="IBM Plex Sans" pitchFamily="34" charset="-120"/>
              </a:rPr>
              <a:t>How it meets the requirements</a:t>
            </a:r>
            <a:endParaRPr lang="en-US" sz="1400" dirty="0"/>
          </a:p>
        </p:txBody>
      </p:sp>
      <p:sp>
        <p:nvSpPr>
          <p:cNvPr id="17" name="Text 15"/>
          <p:cNvSpPr/>
          <p:nvPr/>
        </p:nvSpPr>
        <p:spPr>
          <a:xfrm>
            <a:off x="8106807" y="2852421"/>
            <a:ext cx="3200512"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2"/>
                </a:solidFill>
                <a:latin typeface="IBM Plex Sans" pitchFamily="34" charset="0"/>
                <a:ea typeface="IBM Plex Sans" pitchFamily="34" charset="-122"/>
                <a:cs typeface="IBM Plex Sans" pitchFamily="34" charset="-120"/>
              </a:rPr>
              <a:t>Ingestion covers FR-M1. Calibration covers FR-M2. Explanation covers FR-M3. The monitor covers FR-S1. Logged seeds and configs cover NFR-R1.</a:t>
            </a:r>
            <a:endParaRPr lang="en-US" sz="1200" dirty="0"/>
          </a:p>
        </p:txBody>
      </p:sp>
      <p:sp>
        <p:nvSpPr>
          <p:cNvPr id="18" name="Text 16"/>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Proposed architecture, proposal Figure 2.2</a:t>
            </a:r>
            <a:endParaRPr lang="en-US" sz="1200" dirty="0"/>
          </a:p>
        </p:txBody>
      </p:sp>
      <p:sp>
        <p:nvSpPr>
          <p:cNvPr id="19"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09 · TOOLS AND METHODOLOGY</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3A"/>
                </a:solidFill>
                <a:latin typeface="EB Garamond" pitchFamily="18" charset="0"/>
                <a:ea typeface="EB Garamond" pitchFamily="18" charset="-122"/>
                <a:cs typeface="EB Garamond" pitchFamily="18" charset="-120"/>
              </a:rPr>
              <a:t>A pragmatic design-and-evaluation study</a:t>
            </a:r>
            <a:endParaRPr lang="en-US" sz="3200" dirty="0"/>
          </a:p>
        </p:txBody>
      </p:sp>
      <p:sp>
        <p:nvSpPr>
          <p:cNvPr id="4" name="Shape 2"/>
          <p:cNvSpPr/>
          <p:nvPr/>
        </p:nvSpPr>
        <p:spPr>
          <a:xfrm>
            <a:off x="815975" y="1704975"/>
            <a:ext cx="5200650" cy="1880870"/>
          </a:xfrm>
          <a:prstGeom prst="roundRect">
            <a:avLst>
              <a:gd name="adj" fmla="val 5233"/>
            </a:avLst>
          </a:prstGeom>
          <a:solidFill>
            <a:srgbClr val="FBF9F3"/>
          </a:solidFill>
          <a:ln w="6350">
            <a:solidFill>
              <a:srgbClr val="D9D0BC"/>
            </a:solidFill>
            <a:prstDash val="solid"/>
          </a:ln>
        </p:spPr>
      </p:sp>
      <p:sp>
        <p:nvSpPr>
          <p:cNvPr id="5" name="Text 3"/>
          <p:cNvSpPr/>
          <p:nvPr/>
        </p:nvSpPr>
        <p:spPr>
          <a:xfrm>
            <a:off x="995680" y="1859279"/>
            <a:ext cx="498647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6F6B"/>
                </a:solidFill>
                <a:latin typeface="IBM Plex Sans" pitchFamily="34" charset="0"/>
                <a:ea typeface="IBM Plex Sans" pitchFamily="34" charset="-122"/>
                <a:cs typeface="IBM Plex Sans" pitchFamily="34" charset="-120"/>
              </a:rPr>
              <a:t>Research design</a:t>
            </a:r>
            <a:endParaRPr lang="en-US" sz="1500" dirty="0"/>
          </a:p>
        </p:txBody>
      </p:sp>
      <p:sp>
        <p:nvSpPr>
          <p:cNvPr id="6" name="Text 4"/>
          <p:cNvSpPr/>
          <p:nvPr/>
        </p:nvSpPr>
        <p:spPr>
          <a:xfrm>
            <a:off x="1094486" y="2151379"/>
            <a:ext cx="4880051" cy="87884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Pragmatism, largely deductive with iterative refinement</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Quantitative, design science and experimental evaluation</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Cross-sectional: retrospective contract and regulatory data</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Agile two-week sprints with a Kanban board</a:t>
            </a:r>
            <a:endParaRPr lang="en-US" sz="1200" dirty="0"/>
          </a:p>
        </p:txBody>
      </p:sp>
      <p:sp>
        <p:nvSpPr>
          <p:cNvPr id="7" name="Shape 5"/>
          <p:cNvSpPr/>
          <p:nvPr/>
        </p:nvSpPr>
        <p:spPr>
          <a:xfrm>
            <a:off x="6175375" y="1704975"/>
            <a:ext cx="5200650" cy="1880870"/>
          </a:xfrm>
          <a:prstGeom prst="roundRect">
            <a:avLst>
              <a:gd name="adj" fmla="val 5233"/>
            </a:avLst>
          </a:prstGeom>
          <a:solidFill>
            <a:srgbClr val="FBF9F3"/>
          </a:solidFill>
          <a:ln w="6350">
            <a:solidFill>
              <a:srgbClr val="D9D0BC"/>
            </a:solidFill>
            <a:prstDash val="solid"/>
          </a:ln>
        </p:spPr>
      </p:sp>
      <p:sp>
        <p:nvSpPr>
          <p:cNvPr id="8" name="Text 6"/>
          <p:cNvSpPr/>
          <p:nvPr/>
        </p:nvSpPr>
        <p:spPr>
          <a:xfrm>
            <a:off x="6355080" y="1859279"/>
            <a:ext cx="498647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6F6B"/>
                </a:solidFill>
                <a:latin typeface="IBM Plex Sans" pitchFamily="34" charset="0"/>
                <a:ea typeface="IBM Plex Sans" pitchFamily="34" charset="-122"/>
                <a:cs typeface="IBM Plex Sans" pitchFamily="34" charset="-120"/>
              </a:rPr>
              <a:t>Technical pipeline</a:t>
            </a:r>
            <a:endParaRPr lang="en-US" sz="1500" dirty="0"/>
          </a:p>
        </p:txBody>
      </p:sp>
      <p:sp>
        <p:nvSpPr>
          <p:cNvPr id="9" name="Text 7"/>
          <p:cNvSpPr/>
          <p:nvPr/>
        </p:nvSpPr>
        <p:spPr>
          <a:xfrm>
            <a:off x="6453886" y="2151379"/>
            <a:ext cx="4880051" cy="1305560"/>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Clause and provision segmentation, each provision given an effective date</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Document-level splits and near-duplicate removal to prevent leakage</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Dense retrieval with legal subject tags links clauses to provisions</a:t>
            </a:r>
            <a:endParaRPr lang="en-US" sz="1200" dirty="0"/>
          </a:p>
          <a:p>
            <a:pPr algn="l" marL="155194" indent="-155194">
              <a:lnSpc>
                <a:spcPts val="1680"/>
              </a:lnSpc>
              <a:buSzPct val="100000"/>
              <a:buChar char="•"/>
            </a:pPr>
            <a:r>
              <a:rPr lang="en-US" sz="1200" dirty="0">
                <a:solidFill>
                  <a:srgbClr val="2F3A4D"/>
                </a:solidFill>
                <a:latin typeface="IBM Plex Sans" pitchFamily="34" charset="0"/>
                <a:ea typeface="IBM Plex Sans" pitchFamily="34" charset="-122"/>
                <a:cs typeface="IBM Plex Sans" pitchFamily="34" charset="-120"/>
              </a:rPr>
              <a:t>Class-weighted loss for 41 imbalanced clause classes</a:t>
            </a:r>
            <a:endParaRPr lang="en-US" sz="1200" dirty="0"/>
          </a:p>
        </p:txBody>
      </p:sp>
      <p:sp>
        <p:nvSpPr>
          <p:cNvPr id="10" name="Shape 8"/>
          <p:cNvSpPr/>
          <p:nvPr/>
        </p:nvSpPr>
        <p:spPr>
          <a:xfrm>
            <a:off x="812800" y="3766821"/>
            <a:ext cx="5207000" cy="1450340"/>
          </a:xfrm>
          <a:prstGeom prst="roundRect">
            <a:avLst>
              <a:gd name="adj" fmla="val 7005"/>
            </a:avLst>
          </a:prstGeom>
          <a:solidFill>
            <a:srgbClr val="12203A"/>
          </a:solidFill>
          <a:ln/>
        </p:spPr>
      </p:sp>
      <p:sp>
        <p:nvSpPr>
          <p:cNvPr id="11" name="Text 9"/>
          <p:cNvSpPr/>
          <p:nvPr/>
        </p:nvSpPr>
        <p:spPr>
          <a:xfrm>
            <a:off x="990600" y="3919221"/>
            <a:ext cx="49969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0B25A"/>
                </a:solidFill>
                <a:latin typeface="IBM Plex Sans" pitchFamily="34" charset="0"/>
                <a:ea typeface="IBM Plex Sans" pitchFamily="34" charset="-122"/>
                <a:cs typeface="IBM Plex Sans" pitchFamily="34" charset="-120"/>
              </a:rPr>
              <a:t>Tools and resources</a:t>
            </a:r>
            <a:endParaRPr lang="en-US" sz="1500" dirty="0"/>
          </a:p>
        </p:txBody>
      </p:sp>
      <p:sp>
        <p:nvSpPr>
          <p:cNvPr id="12" name="Text 10"/>
          <p:cNvSpPr/>
          <p:nvPr/>
        </p:nvSpPr>
        <p:spPr>
          <a:xfrm>
            <a:off x="990600" y="4211321"/>
            <a:ext cx="4996942"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EFE4"/>
                </a:solidFill>
                <a:latin typeface="IBM Plex Sans" pitchFamily="34" charset="0"/>
                <a:ea typeface="IBM Plex Sans" pitchFamily="34" charset="-122"/>
                <a:cs typeface="IBM Plex Sans" pitchFamily="34" charset="-120"/>
              </a:rPr>
              <a:t>Python NLP and ML libraries, a fine-tuned legal-domain transformer encoder, SHAP, Hugging Face and GitHub data releases, version control and an experiment tracker. A GPU machine is needed, with a smaller encoder as fallback.</a:t>
            </a:r>
            <a:endParaRPr lang="en-US" sz="1200" dirty="0"/>
          </a:p>
        </p:txBody>
      </p:sp>
      <p:sp>
        <p:nvSpPr>
          <p:cNvPr id="13" name="Shape 11"/>
          <p:cNvSpPr/>
          <p:nvPr/>
        </p:nvSpPr>
        <p:spPr>
          <a:xfrm>
            <a:off x="6172200" y="3766821"/>
            <a:ext cx="5207000" cy="1450340"/>
          </a:xfrm>
          <a:prstGeom prst="roundRect">
            <a:avLst>
              <a:gd name="adj" fmla="val 7005"/>
            </a:avLst>
          </a:prstGeom>
          <a:solidFill>
            <a:srgbClr val="12203A"/>
          </a:solidFill>
          <a:ln/>
        </p:spPr>
      </p:sp>
      <p:sp>
        <p:nvSpPr>
          <p:cNvPr id="14" name="Text 12"/>
          <p:cNvSpPr/>
          <p:nvPr/>
        </p:nvSpPr>
        <p:spPr>
          <a:xfrm>
            <a:off x="6350000" y="3919221"/>
            <a:ext cx="49969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0B25A"/>
                </a:solidFill>
                <a:latin typeface="IBM Plex Sans" pitchFamily="34" charset="0"/>
                <a:ea typeface="IBM Plex Sans" pitchFamily="34" charset="-122"/>
                <a:cs typeface="IBM Plex Sans" pitchFamily="34" charset="-120"/>
              </a:rPr>
              <a:t>Data and baselines</a:t>
            </a:r>
            <a:endParaRPr lang="en-US" sz="1500" dirty="0"/>
          </a:p>
        </p:txBody>
      </p:sp>
      <p:sp>
        <p:nvSpPr>
          <p:cNvPr id="15" name="Text 13"/>
          <p:cNvSpPr/>
          <p:nvPr/>
        </p:nvSpPr>
        <p:spPr>
          <a:xfrm>
            <a:off x="6350000" y="4211321"/>
            <a:ext cx="499694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EFE4"/>
                </a:solidFill>
                <a:latin typeface="IBM Plex Sans" pitchFamily="34" charset="0"/>
                <a:ea typeface="IBM Plex Sans" pitchFamily="34" charset="-122"/>
                <a:cs typeface="IBM Plex Sans" pitchFamily="34" charset="-120"/>
              </a:rPr>
              <a:t>CUAD, LEDGAR and ContractNLI for contracts; Sri Lanka Acts and Gazettes for law. Baselines: TF-IDF with logistic regression, a general transformer, and a snapshot-only compliance checker.</a:t>
            </a:r>
            <a:endParaRPr lang="en-US" sz="1200" dirty="0"/>
          </a:p>
        </p:txBody>
      </p:sp>
      <p:sp>
        <p:nvSpPr>
          <p:cNvPr id="16" name="Text 14"/>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Saunders, Lewis and Thornhill (2019); proposal sections 3.2 to 3.11</a:t>
            </a:r>
            <a:endParaRPr lang="en-US" sz="1200" dirty="0"/>
          </a:p>
        </p:txBody>
      </p:sp>
      <p:sp>
        <p:nvSpPr>
          <p:cNvPr id="17"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6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10 · EVALUATION</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3A"/>
                </a:solidFill>
                <a:latin typeface="EB Garamond" pitchFamily="18" charset="0"/>
                <a:ea typeface="EB Garamond" pitchFamily="18" charset="-122"/>
                <a:cs typeface="EB Garamond" pitchFamily="18" charset="-120"/>
              </a:rPr>
              <a:t>Every research question has its own experiment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11960"/>
          <a:ext cx="10556240" cy="2504440"/>
        </p:xfrm>
        <a:graphic>
          <a:graphicData uri="http://schemas.openxmlformats.org/drawingml/2006/table">
            <a:tbl>
              <a:tblPr/>
              <a:tblGrid>
                <a:gridCol w="3589122"/>
                <a:gridCol w="3483559"/>
                <a:gridCol w="3483559"/>
              </a:tblGrid>
              <a:tr h="330200">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Research question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Experiment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21D31"/>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Evidence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21D31"/>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r>
              <a:tr h="54356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RQ1 How accurately can transformers classify contract risk against simpler baselines?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Legal-domain transformer vs TF-IDF and general transformer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Macro-F1, class-level precision and recall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r>
              <a:tr h="54356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RQ2 Which explanation is most faithful, stable and traceable?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Attribution vs argumentation-informed explanation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Deletion and insertion faithfulness, paraphrase stability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r>
              <a:tr h="54356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RQ3 How reliably is a clause affected by an amendment detected?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Simulated amendment injection from dated version history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Drift-detection precision and recall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r>
              <a:tr h="54356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RQ4 Does a cited, dated provision make an explanation more useful?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Structured reviewer feedback, subject to ethical approval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Qualitative usefulness rating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r>
            </a:tbl>
          </a:graphicData>
        </a:graphic>
      </p:graphicFrame>
      <p:sp>
        <p:nvSpPr>
          <p:cNvPr id="5" name="Shape 2"/>
          <p:cNvSpPr/>
          <p:nvPr/>
        </p:nvSpPr>
        <p:spPr>
          <a:xfrm>
            <a:off x="812800" y="4394200"/>
            <a:ext cx="3437414" cy="944880"/>
          </a:xfrm>
          <a:prstGeom prst="roundRect">
            <a:avLst>
              <a:gd name="adj" fmla="val 10753"/>
            </a:avLst>
          </a:prstGeom>
          <a:solidFill>
            <a:srgbClr val="12203A"/>
          </a:solidFill>
          <a:ln/>
        </p:spPr>
      </p:sp>
      <p:sp>
        <p:nvSpPr>
          <p:cNvPr id="6" name="Text 3"/>
          <p:cNvSpPr/>
          <p:nvPr/>
        </p:nvSpPr>
        <p:spPr>
          <a:xfrm>
            <a:off x="977900" y="4521200"/>
            <a:ext cx="320043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B25A"/>
                </a:solidFill>
                <a:latin typeface="IBM Plex Sans" pitchFamily="34" charset="0"/>
                <a:ea typeface="IBM Plex Sans" pitchFamily="34" charset="-122"/>
                <a:cs typeface="IBM Plex Sans" pitchFamily="34" charset="-120"/>
              </a:rPr>
              <a:t>Protocol</a:t>
            </a:r>
            <a:endParaRPr lang="en-US" sz="1400" dirty="0"/>
          </a:p>
        </p:txBody>
      </p:sp>
      <p:sp>
        <p:nvSpPr>
          <p:cNvPr id="7" name="Text 4"/>
          <p:cNvSpPr/>
          <p:nvPr/>
        </p:nvSpPr>
        <p:spPr>
          <a:xfrm>
            <a:off x="977900" y="4785364"/>
            <a:ext cx="32004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EFE4"/>
                </a:solidFill>
                <a:latin typeface="IBM Plex Sans" pitchFamily="34" charset="0"/>
                <a:ea typeface="IBM Plex Sans" pitchFamily="34" charset="-122"/>
                <a:cs typeface="IBM Plex Sans" pitchFamily="34" charset="-120"/>
              </a:rPr>
              <a:t>Document-level splits; tuning on validation data only; test set evaluated once.</a:t>
            </a:r>
            <a:endParaRPr lang="en-US" sz="1200" dirty="0"/>
          </a:p>
        </p:txBody>
      </p:sp>
      <p:sp>
        <p:nvSpPr>
          <p:cNvPr id="8" name="Shape 5"/>
          <p:cNvSpPr/>
          <p:nvPr/>
        </p:nvSpPr>
        <p:spPr>
          <a:xfrm>
            <a:off x="4377214" y="4394200"/>
            <a:ext cx="3437493" cy="944880"/>
          </a:xfrm>
          <a:prstGeom prst="roundRect">
            <a:avLst>
              <a:gd name="adj" fmla="val 10753"/>
            </a:avLst>
          </a:prstGeom>
          <a:solidFill>
            <a:srgbClr val="12203A"/>
          </a:solidFill>
          <a:ln/>
        </p:spPr>
      </p:sp>
      <p:sp>
        <p:nvSpPr>
          <p:cNvPr id="9" name="Text 6"/>
          <p:cNvSpPr/>
          <p:nvPr/>
        </p:nvSpPr>
        <p:spPr>
          <a:xfrm>
            <a:off x="4542314" y="4521200"/>
            <a:ext cx="320051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B25A"/>
                </a:solidFill>
                <a:latin typeface="IBM Plex Sans" pitchFamily="34" charset="0"/>
                <a:ea typeface="IBM Plex Sans" pitchFamily="34" charset="-122"/>
                <a:cs typeface="IBM Plex Sans" pitchFamily="34" charset="-120"/>
              </a:rPr>
              <a:t>Ablations</a:t>
            </a:r>
            <a:endParaRPr lang="en-US" sz="1400" dirty="0"/>
          </a:p>
        </p:txBody>
      </p:sp>
      <p:sp>
        <p:nvSpPr>
          <p:cNvPr id="10" name="Text 7"/>
          <p:cNvSpPr/>
          <p:nvPr/>
        </p:nvSpPr>
        <p:spPr>
          <a:xfrm>
            <a:off x="4542314" y="4785364"/>
            <a:ext cx="32005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EFE4"/>
                </a:solidFill>
                <a:latin typeface="IBM Plex Sans" pitchFamily="34" charset="0"/>
                <a:ea typeface="IBM Plex Sans" pitchFamily="34" charset="-122"/>
                <a:cs typeface="IBM Plex Sans" pitchFamily="34" charset="-120"/>
              </a:rPr>
              <a:t>Remove calibration, the argumentation layer and the temporal monitor in turn.</a:t>
            </a:r>
            <a:endParaRPr lang="en-US" sz="1200" dirty="0"/>
          </a:p>
        </p:txBody>
      </p:sp>
      <p:sp>
        <p:nvSpPr>
          <p:cNvPr id="11" name="Shape 8"/>
          <p:cNvSpPr/>
          <p:nvPr/>
        </p:nvSpPr>
        <p:spPr>
          <a:xfrm>
            <a:off x="7941707" y="4394200"/>
            <a:ext cx="3437493" cy="944880"/>
          </a:xfrm>
          <a:prstGeom prst="roundRect">
            <a:avLst>
              <a:gd name="adj" fmla="val 10753"/>
            </a:avLst>
          </a:prstGeom>
          <a:solidFill>
            <a:srgbClr val="12203A"/>
          </a:solidFill>
          <a:ln/>
        </p:spPr>
      </p:sp>
      <p:sp>
        <p:nvSpPr>
          <p:cNvPr id="12" name="Text 9"/>
          <p:cNvSpPr/>
          <p:nvPr/>
        </p:nvSpPr>
        <p:spPr>
          <a:xfrm>
            <a:off x="8106807" y="4521200"/>
            <a:ext cx="320051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B25A"/>
                </a:solidFill>
                <a:latin typeface="IBM Plex Sans" pitchFamily="34" charset="0"/>
                <a:ea typeface="IBM Plex Sans" pitchFamily="34" charset="-122"/>
                <a:cs typeface="IBM Plex Sans" pitchFamily="34" charset="-120"/>
              </a:rPr>
              <a:t>Calibration</a:t>
            </a:r>
            <a:endParaRPr lang="en-US" sz="1400" dirty="0"/>
          </a:p>
        </p:txBody>
      </p:sp>
      <p:sp>
        <p:nvSpPr>
          <p:cNvPr id="13" name="Text 10"/>
          <p:cNvSpPr/>
          <p:nvPr/>
        </p:nvSpPr>
        <p:spPr>
          <a:xfrm>
            <a:off x="8106807" y="4785364"/>
            <a:ext cx="32005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EFE4"/>
                </a:solidFill>
                <a:latin typeface="IBM Plex Sans" pitchFamily="34" charset="0"/>
                <a:ea typeface="IBM Plex Sans" pitchFamily="34" charset="-122"/>
                <a:cs typeface="IBM Plex Sans" pitchFamily="34" charset="-120"/>
              </a:rPr>
              <a:t>Expected calibration error and a reliability diagram.</a:t>
            </a:r>
            <a:endParaRPr lang="en-US" sz="1200" dirty="0"/>
          </a:p>
        </p:txBody>
      </p:sp>
      <p:sp>
        <p:nvSpPr>
          <p:cNvPr id="14" name="Text 11"/>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Proposal sections 3.3 and 3.9, Table 3.3</a:t>
            </a:r>
            <a:endParaRPr lang="en-US" sz="12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11 · ETHICS AND SUSTAINABILITY</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3A"/>
                </a:solidFill>
                <a:latin typeface="EB Garamond" pitchFamily="18" charset="0"/>
                <a:ea typeface="EB Garamond" pitchFamily="18" charset="-122"/>
                <a:cs typeface="EB Garamond" pitchFamily="18" charset="-120"/>
              </a:rPr>
              <a:t>A decision-support aid, built responsibly</a:t>
            </a:r>
            <a:endParaRPr lang="en-US" sz="3200" dirty="0"/>
          </a:p>
        </p:txBody>
      </p:sp>
      <p:sp>
        <p:nvSpPr>
          <p:cNvPr id="4" name="Shape 2"/>
          <p:cNvSpPr/>
          <p:nvPr/>
        </p:nvSpPr>
        <p:spPr>
          <a:xfrm>
            <a:off x="815975" y="1679575"/>
            <a:ext cx="3431064" cy="1794510"/>
          </a:xfrm>
          <a:prstGeom prst="roundRect">
            <a:avLst>
              <a:gd name="adj" fmla="val 5485"/>
            </a:avLst>
          </a:prstGeom>
          <a:solidFill>
            <a:srgbClr val="FBF9F3"/>
          </a:solidFill>
          <a:ln w="6350">
            <a:solidFill>
              <a:srgbClr val="D9D0BC"/>
            </a:solidFill>
            <a:prstDash val="solid"/>
          </a:ln>
        </p:spPr>
      </p:sp>
      <p:sp>
        <p:nvSpPr>
          <p:cNvPr id="5" name="Text 3"/>
          <p:cNvSpPr/>
          <p:nvPr/>
        </p:nvSpPr>
        <p:spPr>
          <a:xfrm>
            <a:off x="982980" y="1821179"/>
            <a:ext cx="318996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6F6B"/>
                </a:solidFill>
                <a:latin typeface="IBM Plex Sans" pitchFamily="34" charset="0"/>
                <a:ea typeface="IBM Plex Sans" pitchFamily="34" charset="-122"/>
                <a:cs typeface="IBM Plex Sans" pitchFamily="34" charset="-120"/>
              </a:rPr>
              <a:t>Social and professional</a:t>
            </a:r>
            <a:endParaRPr lang="en-US" sz="1400" dirty="0"/>
          </a:p>
        </p:txBody>
      </p:sp>
      <p:sp>
        <p:nvSpPr>
          <p:cNvPr id="6" name="Text 4"/>
          <p:cNvSpPr/>
          <p:nvPr/>
        </p:nvSpPr>
        <p:spPr>
          <a:xfrm>
            <a:off x="1081786" y="2098042"/>
            <a:ext cx="3083539" cy="105410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F3A4D"/>
                </a:solidFill>
                <a:latin typeface="IBM Plex Sans" pitchFamily="34" charset="0"/>
                <a:ea typeface="IBM Plex Sans" pitchFamily="34" charset="-122"/>
                <a:cs typeface="IBM Plex Sans" pitchFamily="34" charset="-120"/>
              </a:rPr>
              <a:t>Weaker reliability on Sri Lankan drafting, reported openly</a:t>
            </a:r>
            <a:endParaRPr lang="en-US" sz="1200" dirty="0"/>
          </a:p>
          <a:p>
            <a:pPr algn="l" marL="155194" indent="-155194">
              <a:lnSpc>
                <a:spcPts val="1620"/>
              </a:lnSpc>
              <a:buSzPct val="100000"/>
              <a:buChar char="•"/>
            </a:pPr>
            <a:r>
              <a:rPr lang="en-US" sz="1200" dirty="0">
                <a:solidFill>
                  <a:srgbClr val="2F3A4D"/>
                </a:solidFill>
                <a:latin typeface="IBM Plex Sans" pitchFamily="34" charset="0"/>
                <a:ea typeface="IBM Plex Sans" pitchFamily="34" charset="-122"/>
                <a:cs typeface="IBM Plex Sans" pitchFamily="34" charset="-120"/>
              </a:rPr>
              <a:t>A flag for human review, never a legal verdict</a:t>
            </a:r>
            <a:endParaRPr lang="en-US" sz="1200" dirty="0"/>
          </a:p>
          <a:p>
            <a:pPr algn="l" marL="155194" indent="-155194">
              <a:lnSpc>
                <a:spcPts val="1620"/>
              </a:lnSpc>
              <a:buSzPct val="100000"/>
              <a:buChar char="•"/>
            </a:pPr>
            <a:r>
              <a:rPr lang="en-US" sz="1200" dirty="0">
                <a:solidFill>
                  <a:srgbClr val="2F3A4D"/>
                </a:solidFill>
                <a:latin typeface="IBM Plex Sans" pitchFamily="34" charset="0"/>
                <a:ea typeface="IBM Plex Sans" pitchFamily="34" charset="-122"/>
                <a:cs typeface="IBM Plex Sans" pitchFamily="34" charset="-120"/>
              </a:rPr>
              <a:t>Negative results reported honestly</a:t>
            </a:r>
            <a:endParaRPr lang="en-US" sz="1200" dirty="0"/>
          </a:p>
        </p:txBody>
      </p:sp>
      <p:sp>
        <p:nvSpPr>
          <p:cNvPr id="7" name="Shape 5"/>
          <p:cNvSpPr/>
          <p:nvPr/>
        </p:nvSpPr>
        <p:spPr>
          <a:xfrm>
            <a:off x="4380389" y="1679575"/>
            <a:ext cx="3431143" cy="1794510"/>
          </a:xfrm>
          <a:prstGeom prst="roundRect">
            <a:avLst>
              <a:gd name="adj" fmla="val 5485"/>
            </a:avLst>
          </a:prstGeom>
          <a:solidFill>
            <a:srgbClr val="FBF9F3"/>
          </a:solidFill>
          <a:ln w="6350">
            <a:solidFill>
              <a:srgbClr val="D9D0BC"/>
            </a:solidFill>
            <a:prstDash val="solid"/>
          </a:ln>
        </p:spPr>
      </p:sp>
      <p:sp>
        <p:nvSpPr>
          <p:cNvPr id="8" name="Text 6"/>
          <p:cNvSpPr/>
          <p:nvPr/>
        </p:nvSpPr>
        <p:spPr>
          <a:xfrm>
            <a:off x="4547394" y="1821179"/>
            <a:ext cx="319004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6F6B"/>
                </a:solidFill>
                <a:latin typeface="IBM Plex Sans" pitchFamily="34" charset="0"/>
                <a:ea typeface="IBM Plex Sans" pitchFamily="34" charset="-122"/>
                <a:cs typeface="IBM Plex Sans" pitchFamily="34" charset="-120"/>
              </a:rPr>
              <a:t>Legal</a:t>
            </a:r>
            <a:endParaRPr lang="en-US" sz="1400" dirty="0"/>
          </a:p>
        </p:txBody>
      </p:sp>
      <p:sp>
        <p:nvSpPr>
          <p:cNvPr id="9" name="Text 7"/>
          <p:cNvSpPr/>
          <p:nvPr/>
        </p:nvSpPr>
        <p:spPr>
          <a:xfrm>
            <a:off x="4646200" y="2098042"/>
            <a:ext cx="3083621"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F3A4D"/>
                </a:solidFill>
                <a:latin typeface="IBM Plex Sans" pitchFamily="34" charset="0"/>
                <a:ea typeface="IBM Plex Sans" pitchFamily="34" charset="-122"/>
                <a:cs typeface="IBM Plex Sans" pitchFamily="34" charset="-120"/>
              </a:rPr>
              <a:t>Dataset licences followed: CC BY 4.0, MIT and CC BY-NC</a:t>
            </a:r>
            <a:endParaRPr lang="en-US" sz="1200" dirty="0"/>
          </a:p>
          <a:p>
            <a:pPr algn="l" marL="155194" indent="-155194">
              <a:lnSpc>
                <a:spcPts val="1620"/>
              </a:lnSpc>
              <a:buSzPct val="100000"/>
              <a:buChar char="•"/>
            </a:pPr>
            <a:r>
              <a:rPr lang="en-US" sz="1200" dirty="0">
                <a:solidFill>
                  <a:srgbClr val="2F3A4D"/>
                </a:solidFill>
                <a:latin typeface="IBM Plex Sans" pitchFamily="34" charset="0"/>
                <a:ea typeface="IBM Plex Sans" pitchFamily="34" charset="-122"/>
                <a:cs typeface="IBM Plex Sans" pitchFamily="34" charset="-120"/>
              </a:rPr>
              <a:t>Local example contracts anonymised or non-confidential templates</a:t>
            </a:r>
            <a:endParaRPr lang="en-US" sz="1200" dirty="0"/>
          </a:p>
          <a:p>
            <a:pPr algn="l" marL="155194" indent="-155194">
              <a:lnSpc>
                <a:spcPts val="1620"/>
              </a:lnSpc>
              <a:buSzPct val="100000"/>
              <a:buChar char="•"/>
            </a:pPr>
            <a:r>
              <a:rPr lang="en-US" sz="1200" dirty="0">
                <a:solidFill>
                  <a:srgbClr val="2F3A4D"/>
                </a:solidFill>
                <a:latin typeface="IBM Plex Sans" pitchFamily="34" charset="0"/>
                <a:ea typeface="IBM Plex Sans" pitchFamily="34" charset="-122"/>
                <a:cs typeface="IBM Plex Sans" pitchFamily="34" charset="-120"/>
              </a:rPr>
              <a:t>PDPA No. 9 of 2022 and ETA No. 19 of 2006 considered</a:t>
            </a:r>
            <a:endParaRPr lang="en-US" sz="1200" dirty="0"/>
          </a:p>
        </p:txBody>
      </p:sp>
      <p:sp>
        <p:nvSpPr>
          <p:cNvPr id="10" name="Shape 8"/>
          <p:cNvSpPr/>
          <p:nvPr/>
        </p:nvSpPr>
        <p:spPr>
          <a:xfrm>
            <a:off x="7944882" y="1679575"/>
            <a:ext cx="3431143" cy="1794510"/>
          </a:xfrm>
          <a:prstGeom prst="roundRect">
            <a:avLst>
              <a:gd name="adj" fmla="val 5485"/>
            </a:avLst>
          </a:prstGeom>
          <a:solidFill>
            <a:srgbClr val="FBF9F3"/>
          </a:solidFill>
          <a:ln w="6350">
            <a:solidFill>
              <a:srgbClr val="D9D0BC"/>
            </a:solidFill>
            <a:prstDash val="solid"/>
          </a:ln>
        </p:spPr>
      </p:sp>
      <p:sp>
        <p:nvSpPr>
          <p:cNvPr id="11" name="Text 9"/>
          <p:cNvSpPr/>
          <p:nvPr/>
        </p:nvSpPr>
        <p:spPr>
          <a:xfrm>
            <a:off x="8111887" y="1821179"/>
            <a:ext cx="319004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6F6B"/>
                </a:solidFill>
                <a:latin typeface="IBM Plex Sans" pitchFamily="34" charset="0"/>
                <a:ea typeface="IBM Plex Sans" pitchFamily="34" charset="-122"/>
                <a:cs typeface="IBM Plex Sans" pitchFamily="34" charset="-120"/>
              </a:rPr>
              <a:t>Ethical and GenAI use</a:t>
            </a:r>
            <a:endParaRPr lang="en-US" sz="1400" dirty="0"/>
          </a:p>
        </p:txBody>
      </p:sp>
      <p:sp>
        <p:nvSpPr>
          <p:cNvPr id="12" name="Text 10"/>
          <p:cNvSpPr/>
          <p:nvPr/>
        </p:nvSpPr>
        <p:spPr>
          <a:xfrm>
            <a:off x="8210693" y="2098042"/>
            <a:ext cx="3083621"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F3A4D"/>
                </a:solidFill>
                <a:latin typeface="IBM Plex Sans" pitchFamily="34" charset="0"/>
                <a:ea typeface="IBM Plex Sans" pitchFamily="34" charset="-122"/>
                <a:cs typeface="IBM Plex Sans" pitchFamily="34" charset="-120"/>
              </a:rPr>
              <a:t>Explanations tested for faithfulness; confidence shown</a:t>
            </a:r>
            <a:endParaRPr lang="en-US" sz="1200" dirty="0"/>
          </a:p>
          <a:p>
            <a:pPr algn="l" marL="155194" indent="-155194">
              <a:lnSpc>
                <a:spcPts val="1620"/>
              </a:lnSpc>
              <a:buSzPct val="100000"/>
              <a:buChar char="•"/>
            </a:pPr>
            <a:r>
              <a:rPr lang="en-US" sz="1200" dirty="0">
                <a:solidFill>
                  <a:srgbClr val="2F3A4D"/>
                </a:solidFill>
                <a:latin typeface="IBM Plex Sans" pitchFamily="34" charset="0"/>
                <a:ea typeface="IBM Plex Sans" pitchFamily="34" charset="-122"/>
                <a:cs typeface="IBM Plex Sans" pitchFamily="34" charset="-120"/>
              </a:rPr>
              <a:t>GenAI only for search terms and clarity checks, with an AI-use register</a:t>
            </a:r>
            <a:endParaRPr lang="en-US" sz="1200" dirty="0"/>
          </a:p>
          <a:p>
            <a:pPr algn="l" marL="155194" indent="-155194">
              <a:lnSpc>
                <a:spcPts val="1620"/>
              </a:lnSpc>
              <a:buSzPct val="100000"/>
              <a:buChar char="•"/>
            </a:pPr>
            <a:r>
              <a:rPr lang="en-US" sz="1200" dirty="0">
                <a:solidFill>
                  <a:srgbClr val="2F3A4D"/>
                </a:solidFill>
                <a:latin typeface="IBM Plex Sans" pitchFamily="34" charset="0"/>
                <a:ea typeface="IBM Plex Sans" pitchFamily="34" charset="-122"/>
                <a:cs typeface="IBM Plex Sans" pitchFamily="34" charset="-120"/>
              </a:rPr>
              <a:t>Reviewer feedback only after ethical approval</a:t>
            </a:r>
            <a:endParaRPr lang="en-US" sz="1200" dirty="0"/>
          </a:p>
        </p:txBody>
      </p:sp>
      <p:sp>
        <p:nvSpPr>
          <p:cNvPr id="13" name="Shape 11"/>
          <p:cNvSpPr/>
          <p:nvPr/>
        </p:nvSpPr>
        <p:spPr>
          <a:xfrm>
            <a:off x="812800" y="3629664"/>
            <a:ext cx="10566400" cy="1196340"/>
          </a:xfrm>
          <a:prstGeom prst="roundRect">
            <a:avLst>
              <a:gd name="adj" fmla="val 8493"/>
            </a:avLst>
          </a:prstGeom>
          <a:solidFill>
            <a:srgbClr val="12203A"/>
          </a:solidFill>
          <a:ln/>
        </p:spPr>
      </p:sp>
      <p:sp>
        <p:nvSpPr>
          <p:cNvPr id="14" name="Text 12"/>
          <p:cNvSpPr/>
          <p:nvPr/>
        </p:nvSpPr>
        <p:spPr>
          <a:xfrm>
            <a:off x="1003300" y="3769364"/>
            <a:ext cx="1049096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B25A"/>
                </a:solidFill>
                <a:latin typeface="IBM Plex Sans" pitchFamily="34" charset="0"/>
                <a:ea typeface="IBM Plex Sans" pitchFamily="34" charset="-122"/>
                <a:cs typeface="IBM Plex Sans" pitchFamily="34" charset="-120"/>
              </a:rPr>
              <a:t>Sustainability</a:t>
            </a:r>
            <a:endParaRPr lang="en-US" sz="1400" dirty="0"/>
          </a:p>
        </p:txBody>
      </p:sp>
      <p:sp>
        <p:nvSpPr>
          <p:cNvPr id="15" name="Text 13"/>
          <p:cNvSpPr/>
          <p:nvPr/>
        </p:nvSpPr>
        <p:spPr>
          <a:xfrm>
            <a:off x="1003300" y="4046221"/>
            <a:ext cx="337489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Environmental</a:t>
            </a:r>
            <a:r>
              <a:rPr lang="en-US" sz="1200" dirty="0">
                <a:solidFill>
                  <a:srgbClr val="F4EFE4"/>
                </a:solidFill>
                <a:latin typeface="IBM Plex Sans" pitchFamily="34" charset="0"/>
                <a:ea typeface="IBM Plex Sans" pitchFamily="34" charset="-122"/>
                <a:cs typeface="IBM Plex Sans" pitchFamily="34" charset="-120"/>
              </a:rPr>
              <a:t> Efficient baselines first, staged experiments and a smaller encoder fallback limit compute use.</a:t>
            </a:r>
            <a:endParaRPr lang="en-US" sz="1200" dirty="0"/>
          </a:p>
        </p:txBody>
      </p:sp>
      <p:sp>
        <p:nvSpPr>
          <p:cNvPr id="16" name="Text 14"/>
          <p:cNvSpPr/>
          <p:nvPr/>
        </p:nvSpPr>
        <p:spPr>
          <a:xfrm>
            <a:off x="4457700" y="4046221"/>
            <a:ext cx="337489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Social</a:t>
            </a:r>
            <a:r>
              <a:rPr lang="en-US" sz="1200" dirty="0">
                <a:solidFill>
                  <a:srgbClr val="F4EFE4"/>
                </a:solidFill>
                <a:latin typeface="IBM Plex Sans" pitchFamily="34" charset="0"/>
                <a:ea typeface="IBM Plex Sans" pitchFamily="34" charset="-122"/>
                <a:cs typeface="IBM Plex Sans" pitchFamily="34" charset="-120"/>
              </a:rPr>
              <a:t> Supports reviewers instead of replacing them and reuses open public legal data.</a:t>
            </a:r>
            <a:endParaRPr lang="en-US" sz="1200" dirty="0"/>
          </a:p>
        </p:txBody>
      </p:sp>
      <p:sp>
        <p:nvSpPr>
          <p:cNvPr id="17" name="Text 15"/>
          <p:cNvSpPr/>
          <p:nvPr/>
        </p:nvSpPr>
        <p:spPr>
          <a:xfrm>
            <a:off x="7912100" y="4046221"/>
            <a:ext cx="337489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Technical</a:t>
            </a:r>
            <a:r>
              <a:rPr lang="en-US" sz="1200" dirty="0">
                <a:solidFill>
                  <a:srgbClr val="F4EFE4"/>
                </a:solidFill>
                <a:latin typeface="IBM Plex Sans" pitchFamily="34" charset="0"/>
                <a:ea typeface="IBM Plex Sans" pitchFamily="34" charset="-122"/>
                <a:cs typeface="IBM Plex Sans" pitchFamily="34" charset="-120"/>
              </a:rPr>
              <a:t> Modular parts, versioned data and logged configs keep the work reproducible and maintainable.</a:t>
            </a:r>
            <a:endParaRPr lang="en-US" sz="1200" dirty="0"/>
          </a:p>
        </p:txBody>
      </p:sp>
      <p:sp>
        <p:nvSpPr>
          <p:cNvPr id="18" name="Text 16"/>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Proposal chapter 4 (LESP); European Union (2016, 2024) for transparency context</a:t>
            </a:r>
            <a:endParaRPr lang="en-US" sz="1200" dirty="0"/>
          </a:p>
        </p:txBody>
      </p:sp>
      <p:sp>
        <p:nvSpPr>
          <p:cNvPr id="19"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6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12 · SCHEDULE</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3A"/>
                </a:solidFill>
                <a:latin typeface="EB Garamond" pitchFamily="18" charset="0"/>
                <a:ea typeface="EB Garamond" pitchFamily="18" charset="-122"/>
                <a:cs typeface="EB Garamond" pitchFamily="18" charset="-120"/>
              </a:rPr>
              <a:t>Twenty weeks from data access to dissertation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11960"/>
          <a:ext cx="10556240" cy="2641600"/>
        </p:xfrm>
        <a:graphic>
          <a:graphicData uri="http://schemas.openxmlformats.org/drawingml/2006/table">
            <a:tbl>
              <a:tblPr/>
              <a:tblGrid>
                <a:gridCol w="1794561"/>
                <a:gridCol w="5383682"/>
                <a:gridCol w="3377997"/>
              </a:tblGrid>
              <a:tr h="330200">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Period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Activities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21D31"/>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Milestone evidence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21D31"/>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r>
              <a:tr h="33020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Weeks 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Confirm data access, finalise requirements, refine literature matrices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Approved scope and dataset decision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r>
              <a:tr h="33020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Weeks 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Build data pipeline and baseline classifiers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Validated pipeline, baseline results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r>
              <a:tr h="33020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Weeks 7–10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Implement legal-domain classifier and clause-provision retrieval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Model checkpoints, retrieval evaluation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r>
              <a:tr h="33020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Weeks 11–13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Implement calibration and explanation generation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Faithfulness and stability results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r>
              <a:tr h="33020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Weeks 14–16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Implement and evaluate the temporal compliance monitor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Drift-detection evaluation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r>
              <a:tr h="33020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Weeks 17–18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Build demonstrator interface, run ablation studies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Final experiment package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4C1BA"/>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C4C1BA"/>
                      </a:solidFill>
                      <a:prstDash val="solid"/>
                      <a:round/>
                      <a:headEnd type="none" w="med" len="med"/>
                      <a:tailEnd type="none" w="med" len="med"/>
                    </a:lnB>
                    <a:solidFill>
                      <a:srgbClr val="F6F2E9"/>
                    </a:solidFill>
                  </a:tcPr>
                </a:tc>
              </a:tr>
              <a:tr h="33020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Weeks 19–20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Analysis, writing, verification and submission preparation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Complete dissertation and artefacts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r>
            </a:tbl>
          </a:graphicData>
        </a:graphic>
      </p:graphicFrame>
      <p:sp>
        <p:nvSpPr>
          <p:cNvPr id="5" name="Text 2"/>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Proposal Table 3.4 · Agile sprints of two weeks with fortnightly milestone reviews</a:t>
            </a:r>
            <a:endParaRPr lang="en-US" sz="1200" dirty="0"/>
          </a:p>
        </p:txBody>
      </p:sp>
      <p:sp>
        <p:nvSpPr>
          <p:cNvPr id="6" name="Text 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13 · RISK AND MITIGATION</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3A"/>
                </a:solidFill>
                <a:latin typeface="EB Garamond" pitchFamily="18" charset="0"/>
                <a:ea typeface="EB Garamond" pitchFamily="18" charset="-122"/>
                <a:cs typeface="EB Garamond" pitchFamily="18" charset="-120"/>
              </a:rPr>
              <a:t>Five risks, each with a fallback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11960"/>
          <a:ext cx="10556240" cy="2834640"/>
        </p:xfrm>
        <a:graphic>
          <a:graphicData uri="http://schemas.openxmlformats.org/drawingml/2006/table">
            <a:tbl>
              <a:tblPr/>
              <a:tblGrid>
                <a:gridCol w="2850185"/>
                <a:gridCol w="1372311"/>
                <a:gridCol w="1266749"/>
                <a:gridCol w="5066995"/>
              </a:tblGrid>
              <a:tr h="330200">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Likelihood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21D31"/>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Impact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21D31"/>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c>
                  <a:txBody>
                    <a:bodyPr/>
                    <a:lstStyle/>
                    <a:p>
                      <a:pPr indent="0" marL="0">
                        <a:lnSpc>
                          <a:spcPts val="1680"/>
                        </a:lnSpc>
                        <a:buNone/>
                      </a:pPr>
                      <a:r>
                        <a:rPr lang="en-US" sz="1200" b="1" dirty="0">
                          <a:solidFill>
                            <a:srgbClr val="F4EFE4"/>
                          </a:solidFill>
                          <a:latin typeface="IBM Plex Sans" pitchFamily="34" charset="0"/>
                          <a:ea typeface="IBM Plex Sans" pitchFamily="34" charset="-122"/>
                          <a:cs typeface="IBM Plex Sans" pitchFamily="34" charset="-120"/>
                        </a:rPr>
                        <a:t>Prevention and contingency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21D31"/>
                      </a:solidFill>
                      <a:prstDash val="solid"/>
                      <a:round/>
                      <a:headEnd type="none" w="med" len="med"/>
                      <a:tailEnd type="none" w="med" len="med"/>
                    </a:lnL>
                    <a:lnR w="12700" cap="flat" cmpd="sng" algn="ctr">
                      <a:solidFill>
                        <a:srgbClr val="121D31"/>
                      </a:solidFill>
                      <a:prstDash val="solid"/>
                      <a:round/>
                      <a:headEnd type="none" w="med" len="med"/>
                      <a:tailEnd type="none" w="med" len="med"/>
                    </a:lnR>
                    <a:lnT w="12700" cap="flat" cmpd="sng" algn="ctr">
                      <a:solidFill>
                        <a:srgbClr val="C4C1BA"/>
                      </a:solidFill>
                      <a:prstDash val="solid"/>
                      <a:round/>
                      <a:headEnd type="none" w="med" len="med"/>
                      <a:tailEnd type="none" w="med" len="med"/>
                    </a:lnT>
                    <a:lnB w="12700" cap="flat" cmpd="sng" algn="ctr">
                      <a:solidFill>
                        <a:srgbClr val="121D31"/>
                      </a:solidFill>
                      <a:prstDash val="solid"/>
                      <a:round/>
                      <a:headEnd type="none" w="med" len="med"/>
                      <a:tailEnd type="none" w="med" len="med"/>
                    </a:lnB>
                    <a:solidFill>
                      <a:srgbClr val="12203A"/>
                    </a:solidFill>
                  </a:tcPr>
                </a:tc>
              </a:tr>
              <a:tr h="54356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Clause-provision linking is inaccurate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Medium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High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Manually verify a sample of links early; fall back to a smaller, curated subset of provisions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121D31"/>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r>
              <a:tr h="54356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Legal-domain transformer training exceeds compute budget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BCB8AD"/>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8AD"/>
                      </a:solidFill>
                      <a:prstDash val="solid"/>
                      <a:round/>
                      <a:headEnd type="none" w="med" len="med"/>
                      <a:tailEnd type="none" w="med" len="med"/>
                    </a:lnB>
                    <a:solidFill>
                      <a:srgbClr val="ECE6D8"/>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Medium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BCB8AD"/>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8AD"/>
                      </a:solidFill>
                      <a:prstDash val="solid"/>
                      <a:round/>
                      <a:headEnd type="none" w="med" len="med"/>
                      <a:tailEnd type="none" w="med" len="med"/>
                    </a:lnB>
                    <a:solidFill>
                      <a:srgbClr val="ECE6D8"/>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Medium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BCB8AD"/>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8AD"/>
                      </a:solidFill>
                      <a:prstDash val="solid"/>
                      <a:round/>
                      <a:headEnd type="none" w="med" len="med"/>
                      <a:tailEnd type="none" w="med" len="med"/>
                    </a:lnB>
                    <a:solidFill>
                      <a:srgbClr val="ECE6D8"/>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Use a smaller encoder as a fallback; profile memory use early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BCB8AD"/>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8AD"/>
                      </a:solidFill>
                      <a:prstDash val="solid"/>
                      <a:round/>
                      <a:headEnd type="none" w="med" len="med"/>
                      <a:tailEnd type="none" w="med" len="med"/>
                    </a:lnB>
                    <a:solidFill>
                      <a:srgbClr val="ECE6D8"/>
                    </a:solidFill>
                  </a:tcPr>
                </a:tc>
              </a:tr>
              <a:tr h="33020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No access to a legal reviewer for RQ4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Medium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Treat RQ4 as optional and scope the claim clearly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r>
              <a:tr h="54356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Document-level data leakage across splits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BCB8AD"/>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8AD"/>
                      </a:solidFill>
                      <a:prstDash val="solid"/>
                      <a:round/>
                      <a:headEnd type="none" w="med" len="med"/>
                      <a:tailEnd type="none" w="med" len="med"/>
                    </a:lnB>
                    <a:solidFill>
                      <a:srgbClr val="ECE6D8"/>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BCB8AD"/>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8AD"/>
                      </a:solidFill>
                      <a:prstDash val="solid"/>
                      <a:round/>
                      <a:headEnd type="none" w="med" len="med"/>
                      <a:tailEnd type="none" w="med" len="med"/>
                    </a:lnB>
                    <a:solidFill>
                      <a:srgbClr val="ECE6D8"/>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Critical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BCB8AD"/>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8AD"/>
                      </a:solidFill>
                      <a:prstDash val="solid"/>
                      <a:round/>
                      <a:headEnd type="none" w="med" len="med"/>
                      <a:tailEnd type="none" w="med" len="med"/>
                    </a:lnB>
                    <a:solidFill>
                      <a:srgbClr val="ECE6D8"/>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Automated split-integrity checks before any training run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8AD"/>
                      </a:solidFill>
                      <a:prstDash val="solid"/>
                      <a:round/>
                      <a:headEnd type="none" w="med" len="med"/>
                      <a:tailEnd type="none" w="med" len="med"/>
                    </a:lnL>
                    <a:lnR w="12700" cap="flat" cmpd="sng" algn="ctr">
                      <a:solidFill>
                        <a:srgbClr val="BCB8AD"/>
                      </a:solidFill>
                      <a:prstDash val="solid"/>
                      <a:round/>
                      <a:headEnd type="none" w="med" len="med"/>
                      <a:tailEnd type="none" w="med" len="med"/>
                    </a:lnR>
                    <a:lnT w="12700" cap="flat" cmpd="sng" algn="ctr">
                      <a:solidFill>
                        <a:srgbClr val="C8C7C2"/>
                      </a:solidFill>
                      <a:prstDash val="solid"/>
                      <a:round/>
                      <a:headEnd type="none" w="med" len="med"/>
                      <a:tailEnd type="none" w="med" len="med"/>
                    </a:lnT>
                    <a:lnB w="12700" cap="flat" cmpd="sng" algn="ctr">
                      <a:solidFill>
                        <a:srgbClr val="BCB8AD"/>
                      </a:solidFill>
                      <a:prstDash val="solid"/>
                      <a:round/>
                      <a:headEnd type="none" w="med" len="med"/>
                      <a:tailEnd type="none" w="med" len="med"/>
                    </a:lnB>
                    <a:solidFill>
                      <a:srgbClr val="ECE6D8"/>
                    </a:solidFill>
                  </a:tcPr>
                </a:tc>
              </a:tr>
              <a:tr h="543560">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Generative AI misuse in writing or coding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1BA"/>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High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c>
                  <a:txBody>
                    <a:bodyPr/>
                    <a:lstStyle/>
                    <a:p>
                      <a:pPr indent="0" marL="0">
                        <a:lnSpc>
                          <a:spcPts val="1680"/>
                        </a:lnSpc>
                        <a:buNone/>
                      </a:pPr>
                      <a:r>
                        <a:rPr lang="en-US" sz="1200" dirty="0">
                          <a:solidFill>
                            <a:srgbClr val="2F3A4D"/>
                          </a:solidFill>
                          <a:latin typeface="IBM Plex Sans" pitchFamily="34" charset="0"/>
                          <a:ea typeface="IBM Plex Sans" pitchFamily="34" charset="-122"/>
                          <a:cs typeface="IBM Plex Sans" pitchFamily="34" charset="-120"/>
                        </a:rPr>
                        <a:t>Keep an AI-use log; verify all AI-assisted text and code before 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2"/>
                      </a:solidFill>
                      <a:prstDash val="solid"/>
                      <a:round/>
                      <a:headEnd type="none" w="med" len="med"/>
                      <a:tailEnd type="none" w="med" len="med"/>
                    </a:lnL>
                    <a:lnR w="12700" cap="flat" cmpd="sng" algn="ctr">
                      <a:solidFill>
                        <a:srgbClr val="C8C7C2"/>
                      </a:solidFill>
                      <a:prstDash val="solid"/>
                      <a:round/>
                      <a:headEnd type="none" w="med" len="med"/>
                      <a:tailEnd type="none" w="med" len="med"/>
                    </a:lnR>
                    <a:lnT w="12700" cap="flat" cmpd="sng" algn="ctr">
                      <a:solidFill>
                        <a:srgbClr val="BCB8AD"/>
                      </a:solidFill>
                      <a:prstDash val="solid"/>
                      <a:round/>
                      <a:headEnd type="none" w="med" len="med"/>
                      <a:tailEnd type="none" w="med" len="med"/>
                    </a:lnT>
                    <a:lnB w="12700" cap="flat" cmpd="sng" algn="ctr">
                      <a:solidFill>
                        <a:srgbClr val="C8C7C2"/>
                      </a:solidFill>
                      <a:prstDash val="solid"/>
                      <a:round/>
                      <a:headEnd type="none" w="med" len="med"/>
                      <a:tailEnd type="none" w="med" len="med"/>
                    </a:lnB>
                    <a:solidFill>
                      <a:srgbClr val="FBF9F3"/>
                    </a:solidFill>
                  </a:tcPr>
                </a:tc>
              </a:tr>
            </a:tbl>
          </a:graphicData>
        </a:graphic>
      </p:graphicFrame>
      <p:sp>
        <p:nvSpPr>
          <p:cNvPr id="5" name="Text 2"/>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Proposal Table 3.5</a:t>
            </a:r>
            <a:endParaRPr lang="en-US" sz="1200" dirty="0"/>
          </a:p>
        </p:txBody>
      </p:sp>
      <p:sp>
        <p:nvSpPr>
          <p:cNvPr id="6" name="Text 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E6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14 · REFERENCES (1 OF 2)</a:t>
            </a:r>
            <a:endParaRPr lang="en-US" sz="1200" dirty="0"/>
          </a:p>
        </p:txBody>
      </p:sp>
      <p:sp>
        <p:nvSpPr>
          <p:cNvPr id="3" name="Text 1"/>
          <p:cNvSpPr/>
          <p:nvPr>
            <p:ph type="title"/>
          </p:nvPr>
        </p:nvSpPr>
        <p:spPr>
          <a:xfrm>
            <a:off x="812800" y="1076964"/>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2203A"/>
                </a:solidFill>
                <a:latin typeface="EB Garamond" pitchFamily="18" charset="0"/>
                <a:ea typeface="EB Garamond" pitchFamily="18" charset="-122"/>
                <a:cs typeface="EB Garamond" pitchFamily="18" charset="-120"/>
              </a:rPr>
              <a:t>References</a:t>
            </a:r>
            <a:endParaRPr lang="en-US" sz="2800" dirty="0"/>
          </a:p>
        </p:txBody>
      </p:sp>
      <p:sp>
        <p:nvSpPr>
          <p:cNvPr id="4" name="Text 2"/>
          <p:cNvSpPr/>
          <p:nvPr/>
        </p:nvSpPr>
        <p:spPr>
          <a:xfrm>
            <a:off x="812800" y="1645921"/>
            <a:ext cx="5284724"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Barbosa, T.S., de Castro, D., Singh, A.K. and Vitale, S. (2026) ‘An experimental assessment of AI-based legal decision-making systems in contract analysis and risk detection’, </a:t>
            </a:r>
            <a:r>
              <a:rPr lang="en-US" sz="1200" i="1" dirty="0">
                <a:solidFill>
                  <a:srgbClr val="2F3A4D"/>
                </a:solidFill>
                <a:latin typeface="IBM Plex Sans" pitchFamily="34" charset="0"/>
                <a:ea typeface="IBM Plex Sans" pitchFamily="34" charset="-122"/>
                <a:cs typeface="IBM Plex Sans" pitchFamily="34" charset="-120"/>
              </a:rPr>
              <a:t>Qubahan Techno Journal</a:t>
            </a:r>
            <a:r>
              <a:rPr lang="en-US" sz="1200" dirty="0">
                <a:solidFill>
                  <a:srgbClr val="2F3A4D"/>
                </a:solidFill>
                <a:latin typeface="IBM Plex Sans" pitchFamily="34" charset="0"/>
                <a:ea typeface="IBM Plex Sans" pitchFamily="34" charset="-122"/>
                <a:cs typeface="IBM Plex Sans" pitchFamily="34" charset="-120"/>
              </a:rPr>
              <a:t>, 5(1), pp. 37–65.</a:t>
            </a:r>
            <a:endParaRPr lang="en-US" sz="1200" dirty="0"/>
          </a:p>
        </p:txBody>
      </p:sp>
      <p:sp>
        <p:nvSpPr>
          <p:cNvPr id="5" name="Text 3"/>
          <p:cNvSpPr/>
          <p:nvPr/>
        </p:nvSpPr>
        <p:spPr>
          <a:xfrm>
            <a:off x="812800" y="2570479"/>
            <a:ext cx="52847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Chalkidis, I. et al. (2020) ‘LEGAL-BERT: the muppets straight out of law school’, </a:t>
            </a:r>
            <a:r>
              <a:rPr lang="en-US" sz="1200" i="1" dirty="0">
                <a:solidFill>
                  <a:srgbClr val="2F3A4D"/>
                </a:solidFill>
                <a:latin typeface="IBM Plex Sans" pitchFamily="34" charset="0"/>
                <a:ea typeface="IBM Plex Sans" pitchFamily="34" charset="-122"/>
                <a:cs typeface="IBM Plex Sans" pitchFamily="34" charset="-120"/>
              </a:rPr>
              <a:t>Findings of EMNLP 2020</a:t>
            </a:r>
            <a:r>
              <a:rPr lang="en-US" sz="1200" dirty="0">
                <a:solidFill>
                  <a:srgbClr val="2F3A4D"/>
                </a:solidFill>
                <a:latin typeface="IBM Plex Sans" pitchFamily="34" charset="0"/>
                <a:ea typeface="IBM Plex Sans" pitchFamily="34" charset="-122"/>
                <a:cs typeface="IBM Plex Sans" pitchFamily="34" charset="-120"/>
              </a:rPr>
              <a:t>.</a:t>
            </a:r>
            <a:endParaRPr lang="en-US" sz="1200" dirty="0"/>
          </a:p>
        </p:txBody>
      </p:sp>
      <p:sp>
        <p:nvSpPr>
          <p:cNvPr id="6" name="Text 4"/>
          <p:cNvSpPr/>
          <p:nvPr/>
        </p:nvSpPr>
        <p:spPr>
          <a:xfrm>
            <a:off x="812800" y="3083564"/>
            <a:ext cx="52847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Gangadhar, K.D.P. et al. (2026) ‘AI-powered legal contract risk analyzer’, </a:t>
            </a:r>
            <a:r>
              <a:rPr lang="en-US" sz="1200" i="1" dirty="0">
                <a:solidFill>
                  <a:srgbClr val="2F3A4D"/>
                </a:solidFill>
                <a:latin typeface="IBM Plex Sans" pitchFamily="34" charset="0"/>
                <a:ea typeface="IBM Plex Sans" pitchFamily="34" charset="-122"/>
                <a:cs typeface="IBM Plex Sans" pitchFamily="34" charset="-120"/>
              </a:rPr>
              <a:t>IJRASET</a:t>
            </a:r>
            <a:r>
              <a:rPr lang="en-US" sz="1200" dirty="0">
                <a:solidFill>
                  <a:srgbClr val="2F3A4D"/>
                </a:solidFill>
                <a:latin typeface="IBM Plex Sans" pitchFamily="34" charset="0"/>
                <a:ea typeface="IBM Plex Sans" pitchFamily="34" charset="-122"/>
                <a:cs typeface="IBM Plex Sans" pitchFamily="34" charset="-120"/>
              </a:rPr>
              <a:t>, 14(4), pp. 4465–4469.</a:t>
            </a:r>
            <a:endParaRPr lang="en-US" sz="1200" dirty="0"/>
          </a:p>
        </p:txBody>
      </p:sp>
      <p:sp>
        <p:nvSpPr>
          <p:cNvPr id="7" name="Text 5"/>
          <p:cNvSpPr/>
          <p:nvPr/>
        </p:nvSpPr>
        <p:spPr>
          <a:xfrm>
            <a:off x="812800" y="3596642"/>
            <a:ext cx="5284724"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Hacker, P., Krestel, R., Grundmann, S. and Naumann, F. (2020) ‘Explainable AI under contract and tort law: legal incentives and technical challenges’, </a:t>
            </a:r>
            <a:r>
              <a:rPr lang="en-US" sz="1200" i="1" dirty="0">
                <a:solidFill>
                  <a:srgbClr val="2F3A4D"/>
                </a:solidFill>
                <a:latin typeface="IBM Plex Sans" pitchFamily="34" charset="0"/>
                <a:ea typeface="IBM Plex Sans" pitchFamily="34" charset="-122"/>
                <a:cs typeface="IBM Plex Sans" pitchFamily="34" charset="-120"/>
              </a:rPr>
              <a:t>Artificial Intelligence and Law</a:t>
            </a:r>
            <a:r>
              <a:rPr lang="en-US" sz="1200" dirty="0">
                <a:solidFill>
                  <a:srgbClr val="2F3A4D"/>
                </a:solidFill>
                <a:latin typeface="IBM Plex Sans" pitchFamily="34" charset="0"/>
                <a:ea typeface="IBM Plex Sans" pitchFamily="34" charset="-122"/>
                <a:cs typeface="IBM Plex Sans" pitchFamily="34" charset="-120"/>
              </a:rPr>
              <a:t>, 28(4), pp. 415–439.</a:t>
            </a:r>
            <a:endParaRPr lang="en-US" sz="1200" dirty="0"/>
          </a:p>
        </p:txBody>
      </p:sp>
      <p:sp>
        <p:nvSpPr>
          <p:cNvPr id="8" name="Text 6"/>
          <p:cNvSpPr/>
          <p:nvPr/>
        </p:nvSpPr>
        <p:spPr>
          <a:xfrm>
            <a:off x="812800" y="4315464"/>
            <a:ext cx="5284724"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Hendrycks, D., Burns, C., Chen, A. and Ball, S. (2021) ‘CUAD: an expert-annotated NLP dataset for legal contract review’, </a:t>
            </a:r>
            <a:r>
              <a:rPr lang="en-US" sz="1200" i="1" dirty="0">
                <a:solidFill>
                  <a:srgbClr val="2F3A4D"/>
                </a:solidFill>
                <a:latin typeface="IBM Plex Sans" pitchFamily="34" charset="0"/>
                <a:ea typeface="IBM Plex Sans" pitchFamily="34" charset="-122"/>
                <a:cs typeface="IBM Plex Sans" pitchFamily="34" charset="-120"/>
              </a:rPr>
              <a:t>NeurIPS Datasets and Benchmarks Track</a:t>
            </a:r>
            <a:r>
              <a:rPr lang="en-US" sz="1200" dirty="0">
                <a:solidFill>
                  <a:srgbClr val="2F3A4D"/>
                </a:solidFill>
                <a:latin typeface="IBM Plex Sans" pitchFamily="34" charset="0"/>
                <a:ea typeface="IBM Plex Sans" pitchFamily="34" charset="-122"/>
                <a:cs typeface="IBM Plex Sans" pitchFamily="34" charset="-120"/>
              </a:rPr>
              <a:t>.</a:t>
            </a:r>
            <a:endParaRPr lang="en-US" sz="1200" dirty="0"/>
          </a:p>
        </p:txBody>
      </p:sp>
      <p:sp>
        <p:nvSpPr>
          <p:cNvPr id="9" name="Text 7"/>
          <p:cNvSpPr/>
          <p:nvPr/>
        </p:nvSpPr>
        <p:spPr>
          <a:xfrm>
            <a:off x="6248400" y="1645921"/>
            <a:ext cx="52847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Kanagamalliga, S. et al. (2025) ‘An interpretable multi agent architecture for automated legal risk assessment’, </a:t>
            </a:r>
            <a:r>
              <a:rPr lang="en-US" sz="1200" i="1" dirty="0">
                <a:solidFill>
                  <a:srgbClr val="2F3A4D"/>
                </a:solidFill>
                <a:latin typeface="IBM Plex Sans" pitchFamily="34" charset="0"/>
                <a:ea typeface="IBM Plex Sans" pitchFamily="34" charset="-122"/>
                <a:cs typeface="IBM Plex Sans" pitchFamily="34" charset="-120"/>
              </a:rPr>
              <a:t>2025 ICIDCA</a:t>
            </a:r>
            <a:r>
              <a:rPr lang="en-US" sz="1200" dirty="0">
                <a:solidFill>
                  <a:srgbClr val="2F3A4D"/>
                </a:solidFill>
                <a:latin typeface="IBM Plex Sans" pitchFamily="34" charset="0"/>
                <a:ea typeface="IBM Plex Sans" pitchFamily="34" charset="-122"/>
                <a:cs typeface="IBM Plex Sans" pitchFamily="34" charset="-120"/>
              </a:rPr>
              <a:t>, IEEE, pp. 1449–1454.</a:t>
            </a:r>
            <a:endParaRPr lang="en-US" sz="1200" dirty="0"/>
          </a:p>
        </p:txBody>
      </p:sp>
      <p:sp>
        <p:nvSpPr>
          <p:cNvPr id="10" name="Text 8"/>
          <p:cNvSpPr/>
          <p:nvPr/>
        </p:nvSpPr>
        <p:spPr>
          <a:xfrm>
            <a:off x="6248400" y="2159000"/>
            <a:ext cx="5284724"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Keerthana, B.V. and Kumaresh, N. (2025) ‘AI-powered legal document analysis with an integrated trust and safety framework’, </a:t>
            </a:r>
            <a:r>
              <a:rPr lang="en-US" sz="1200" i="1" dirty="0">
                <a:solidFill>
                  <a:srgbClr val="2F3A4D"/>
                </a:solidFill>
                <a:latin typeface="IBM Plex Sans" pitchFamily="34" charset="0"/>
                <a:ea typeface="IBM Plex Sans" pitchFamily="34" charset="-122"/>
                <a:cs typeface="IBM Plex Sans" pitchFamily="34" charset="-120"/>
              </a:rPr>
              <a:t>NCRIE-2025</a:t>
            </a:r>
            <a:r>
              <a:rPr lang="en-US" sz="1200" dirty="0">
                <a:solidFill>
                  <a:srgbClr val="2F3A4D"/>
                </a:solidFill>
                <a:latin typeface="IBM Plex Sans" pitchFamily="34" charset="0"/>
                <a:ea typeface="IBM Plex Sans" pitchFamily="34" charset="-122"/>
                <a:cs typeface="IBM Plex Sans" pitchFamily="34" charset="-120"/>
              </a:rPr>
              <a:t>, pp. 749–757.</a:t>
            </a:r>
            <a:endParaRPr lang="en-US" sz="1200" dirty="0"/>
          </a:p>
        </p:txBody>
      </p:sp>
      <p:sp>
        <p:nvSpPr>
          <p:cNvPr id="11" name="Text 9"/>
          <p:cNvSpPr/>
          <p:nvPr/>
        </p:nvSpPr>
        <p:spPr>
          <a:xfrm>
            <a:off x="6248400" y="2877821"/>
            <a:ext cx="5284724"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Koreeda, Y. and Manning, C.D. (2021) ‘ContractNLI: a dataset for document-level natural language inference for contracts’, </a:t>
            </a:r>
            <a:r>
              <a:rPr lang="en-US" sz="1200" i="1" dirty="0">
                <a:solidFill>
                  <a:srgbClr val="2F3A4D"/>
                </a:solidFill>
                <a:latin typeface="IBM Plex Sans" pitchFamily="34" charset="0"/>
                <a:ea typeface="IBM Plex Sans" pitchFamily="34" charset="-122"/>
                <a:cs typeface="IBM Plex Sans" pitchFamily="34" charset="-120"/>
              </a:rPr>
              <a:t>Findings of EMNLP 2021</a:t>
            </a:r>
            <a:r>
              <a:rPr lang="en-US" sz="1200" dirty="0">
                <a:solidFill>
                  <a:srgbClr val="2F3A4D"/>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6248400" y="3596642"/>
            <a:ext cx="52847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Kostopoulos, G. et al. (2024) ‘Explainable artificial intelligence-based decision support systems: a recent review’.</a:t>
            </a:r>
            <a:endParaRPr lang="en-US" sz="1200" dirty="0"/>
          </a:p>
        </p:txBody>
      </p:sp>
      <p:sp>
        <p:nvSpPr>
          <p:cNvPr id="13" name="Text 11"/>
          <p:cNvSpPr/>
          <p:nvPr/>
        </p:nvSpPr>
        <p:spPr>
          <a:xfrm>
            <a:off x="6248400" y="4109721"/>
            <a:ext cx="52847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Liu, S. et al. (2025) ‘ContractEval: benchmarking LLMs for clause-level legal risk identification in commercial contracts’, </a:t>
            </a:r>
            <a:r>
              <a:rPr lang="en-US" sz="1200" i="1" dirty="0">
                <a:solidFill>
                  <a:srgbClr val="2F3A4D"/>
                </a:solidFill>
                <a:latin typeface="IBM Plex Sans" pitchFamily="34" charset="0"/>
                <a:ea typeface="IBM Plex Sans" pitchFamily="34" charset="-122"/>
                <a:cs typeface="IBM Plex Sans" pitchFamily="34" charset="-120"/>
              </a:rPr>
              <a:t>arXiv</a:t>
            </a:r>
            <a:r>
              <a:rPr lang="en-US" sz="1200" dirty="0">
                <a:solidFill>
                  <a:srgbClr val="2F3A4D"/>
                </a:solidFill>
                <a:latin typeface="IBM Plex Sans" pitchFamily="34" charset="0"/>
                <a:ea typeface="IBM Plex Sans" pitchFamily="34" charset="-122"/>
                <a:cs typeface="IBM Plex Sans" pitchFamily="34" charset="-120"/>
              </a:rPr>
              <a:t>:2508.03080.</a:t>
            </a:r>
            <a:endParaRPr lang="en-US" sz="1200" dirty="0"/>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CE6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6F6B"/>
                </a:solidFill>
                <a:latin typeface="IBM Plex Sans" pitchFamily="34" charset="0"/>
                <a:ea typeface="IBM Plex Sans" pitchFamily="34" charset="-122"/>
                <a:cs typeface="IBM Plex Sans" pitchFamily="34" charset="-120"/>
              </a:rPr>
              <a:t>SLIDE 15 · REFERENCES (2 OF 2)</a:t>
            </a:r>
            <a:endParaRPr lang="en-US" sz="1200" dirty="0"/>
          </a:p>
        </p:txBody>
      </p:sp>
      <p:sp>
        <p:nvSpPr>
          <p:cNvPr id="3" name="Text 1"/>
          <p:cNvSpPr/>
          <p:nvPr>
            <p:ph type="title"/>
          </p:nvPr>
        </p:nvSpPr>
        <p:spPr>
          <a:xfrm>
            <a:off x="812800" y="1076964"/>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2203A"/>
                </a:solidFill>
                <a:latin typeface="EB Garamond" pitchFamily="18" charset="0"/>
                <a:ea typeface="EB Garamond" pitchFamily="18" charset="-122"/>
                <a:cs typeface="EB Garamond" pitchFamily="18" charset="-120"/>
              </a:rPr>
              <a:t>References</a:t>
            </a:r>
            <a:endParaRPr lang="en-US" sz="2800" dirty="0"/>
          </a:p>
        </p:txBody>
      </p:sp>
      <p:sp>
        <p:nvSpPr>
          <p:cNvPr id="4" name="Text 2"/>
          <p:cNvSpPr/>
          <p:nvPr/>
        </p:nvSpPr>
        <p:spPr>
          <a:xfrm>
            <a:off x="812800" y="1645927"/>
            <a:ext cx="52847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Longo, L. et al. (2024) ‘Explainable artificial intelligence (XAI) 2.0: a manifesto of open challenges and interdisciplinary research directions’.</a:t>
            </a:r>
            <a:endParaRPr lang="en-US" sz="1200" dirty="0"/>
          </a:p>
        </p:txBody>
      </p:sp>
      <p:sp>
        <p:nvSpPr>
          <p:cNvPr id="5" name="Text 3"/>
          <p:cNvSpPr/>
          <p:nvPr/>
        </p:nvSpPr>
        <p:spPr>
          <a:xfrm>
            <a:off x="812800" y="2159000"/>
            <a:ext cx="52847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Mansi, G., Karusala, N. and Riedl, M. (2025) ‘Legally-informed explainable AI’, </a:t>
            </a:r>
            <a:r>
              <a:rPr lang="en-US" sz="1200" i="1" dirty="0">
                <a:solidFill>
                  <a:srgbClr val="2F3A4D"/>
                </a:solidFill>
                <a:latin typeface="IBM Plex Sans" pitchFamily="34" charset="0"/>
                <a:ea typeface="IBM Plex Sans" pitchFamily="34" charset="-122"/>
                <a:cs typeface="IBM Plex Sans" pitchFamily="34" charset="-120"/>
              </a:rPr>
              <a:t>arXiv</a:t>
            </a:r>
            <a:r>
              <a:rPr lang="en-US" sz="1200" dirty="0">
                <a:solidFill>
                  <a:srgbClr val="2F3A4D"/>
                </a:solidFill>
                <a:latin typeface="IBM Plex Sans" pitchFamily="34" charset="0"/>
                <a:ea typeface="IBM Plex Sans" pitchFamily="34" charset="-122"/>
                <a:cs typeface="IBM Plex Sans" pitchFamily="34" charset="-120"/>
              </a:rPr>
              <a:t>:2504.10708.</a:t>
            </a:r>
            <a:endParaRPr lang="en-US" sz="1200" dirty="0"/>
          </a:p>
        </p:txBody>
      </p:sp>
      <p:sp>
        <p:nvSpPr>
          <p:cNvPr id="6" name="Text 4"/>
          <p:cNvSpPr/>
          <p:nvPr/>
        </p:nvSpPr>
        <p:spPr>
          <a:xfrm>
            <a:off x="812800" y="2672085"/>
            <a:ext cx="5284724"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Mudhiganti, S.K.R. (2025) ‘Leveraging generative AI and natural language processing for legal risk management’, </a:t>
            </a:r>
            <a:r>
              <a:rPr lang="en-US" sz="1200" i="1" dirty="0">
                <a:solidFill>
                  <a:srgbClr val="2F3A4D"/>
                </a:solidFill>
                <a:latin typeface="IBM Plex Sans" pitchFamily="34" charset="0"/>
                <a:ea typeface="IBM Plex Sans" pitchFamily="34" charset="-122"/>
                <a:cs typeface="IBM Plex Sans" pitchFamily="34" charset="-120"/>
              </a:rPr>
              <a:t>2025 IEEE 4th World Conference on Applied Intelligence and Computing</a:t>
            </a:r>
            <a:r>
              <a:rPr lang="en-US" sz="1200" dirty="0">
                <a:solidFill>
                  <a:srgbClr val="2F3A4D"/>
                </a:solidFill>
                <a:latin typeface="IBM Plex Sans" pitchFamily="34" charset="0"/>
                <a:ea typeface="IBM Plex Sans" pitchFamily="34" charset="-122"/>
                <a:cs typeface="IBM Plex Sans" pitchFamily="34" charset="-120"/>
              </a:rPr>
              <a:t>, pp. 689–694.</a:t>
            </a:r>
            <a:endParaRPr lang="en-US" sz="1200" dirty="0"/>
          </a:p>
        </p:txBody>
      </p:sp>
      <p:sp>
        <p:nvSpPr>
          <p:cNvPr id="7" name="Text 5"/>
          <p:cNvSpPr/>
          <p:nvPr/>
        </p:nvSpPr>
        <p:spPr>
          <a:xfrm>
            <a:off x="812800" y="3390900"/>
            <a:ext cx="5284724"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Prajescu, A.I. and Confalonieri, R. (2025) ‘Argumentation-based explainability for legal AI: comparative and regulatory perspectives’, </a:t>
            </a:r>
            <a:r>
              <a:rPr lang="en-US" sz="1200" i="1" dirty="0">
                <a:solidFill>
                  <a:srgbClr val="2F3A4D"/>
                </a:solidFill>
                <a:latin typeface="IBM Plex Sans" pitchFamily="34" charset="0"/>
                <a:ea typeface="IBM Plex Sans" pitchFamily="34" charset="-122"/>
                <a:cs typeface="IBM Plex Sans" pitchFamily="34" charset="-120"/>
              </a:rPr>
              <a:t>arXiv</a:t>
            </a:r>
            <a:r>
              <a:rPr lang="en-US" sz="1200" dirty="0">
                <a:solidFill>
                  <a:srgbClr val="2F3A4D"/>
                </a:solidFill>
                <a:latin typeface="IBM Plex Sans" pitchFamily="34" charset="0"/>
                <a:ea typeface="IBM Plex Sans" pitchFamily="34" charset="-122"/>
                <a:cs typeface="IBM Plex Sans" pitchFamily="34" charset="-120"/>
              </a:rPr>
              <a:t>:2510.11079.</a:t>
            </a:r>
            <a:endParaRPr lang="en-US" sz="1200" dirty="0"/>
          </a:p>
        </p:txBody>
      </p:sp>
      <p:sp>
        <p:nvSpPr>
          <p:cNvPr id="8" name="Text 6"/>
          <p:cNvSpPr/>
          <p:nvPr/>
        </p:nvSpPr>
        <p:spPr>
          <a:xfrm>
            <a:off x="6248400" y="1645927"/>
            <a:ext cx="5284724"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Prakash, J.B. et al. (2025) ‘AI-powered regulatory compliance checker for contracts: a machine learning and NLP based approach’, Avanthi Institute of Engineering and Technology.</a:t>
            </a:r>
            <a:endParaRPr lang="en-US" sz="1200" dirty="0"/>
          </a:p>
        </p:txBody>
      </p:sp>
      <p:sp>
        <p:nvSpPr>
          <p:cNvPr id="9" name="Text 7"/>
          <p:cNvSpPr/>
          <p:nvPr/>
        </p:nvSpPr>
        <p:spPr>
          <a:xfrm>
            <a:off x="6248400" y="2364742"/>
            <a:ext cx="52847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Saeed, W. and Omlin, C. (2021) ‘Explainable AI (XAI): a systematic meta-survey of current challenges and future opportunities’, </a:t>
            </a:r>
            <a:r>
              <a:rPr lang="en-US" sz="1200" i="1" dirty="0">
                <a:solidFill>
                  <a:srgbClr val="2F3A4D"/>
                </a:solidFill>
                <a:latin typeface="IBM Plex Sans" pitchFamily="34" charset="0"/>
                <a:ea typeface="IBM Plex Sans" pitchFamily="34" charset="-122"/>
                <a:cs typeface="IBM Plex Sans" pitchFamily="34" charset="-120"/>
              </a:rPr>
              <a:t>arXiv</a:t>
            </a:r>
            <a:r>
              <a:rPr lang="en-US" sz="1200" dirty="0">
                <a:solidFill>
                  <a:srgbClr val="2F3A4D"/>
                </a:solidFill>
                <a:latin typeface="IBM Plex Sans" pitchFamily="34" charset="0"/>
                <a:ea typeface="IBM Plex Sans" pitchFamily="34" charset="-122"/>
                <a:cs typeface="IBM Plex Sans" pitchFamily="34" charset="-120"/>
              </a:rPr>
              <a:t>:2111.06420.</a:t>
            </a:r>
            <a:endParaRPr lang="en-US" sz="1200" dirty="0"/>
          </a:p>
        </p:txBody>
      </p:sp>
      <p:sp>
        <p:nvSpPr>
          <p:cNvPr id="10" name="Text 8"/>
          <p:cNvSpPr/>
          <p:nvPr/>
        </p:nvSpPr>
        <p:spPr>
          <a:xfrm>
            <a:off x="6248400" y="2877827"/>
            <a:ext cx="52847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Saunders, M., Lewis, P. and Thornhill, A. (2019) </a:t>
            </a:r>
            <a:r>
              <a:rPr lang="en-US" sz="1200" i="1" dirty="0">
                <a:solidFill>
                  <a:srgbClr val="2F3A4D"/>
                </a:solidFill>
                <a:latin typeface="IBM Plex Sans" pitchFamily="34" charset="0"/>
                <a:ea typeface="IBM Plex Sans" pitchFamily="34" charset="-122"/>
                <a:cs typeface="IBM Plex Sans" pitchFamily="34" charset="-120"/>
              </a:rPr>
              <a:t>Research methods for business students</a:t>
            </a:r>
            <a:r>
              <a:rPr lang="en-US" sz="1200" dirty="0">
                <a:solidFill>
                  <a:srgbClr val="2F3A4D"/>
                </a:solidFill>
                <a:latin typeface="IBM Plex Sans" pitchFamily="34" charset="0"/>
                <a:ea typeface="IBM Plex Sans" pitchFamily="34" charset="-122"/>
                <a:cs typeface="IBM Plex Sans" pitchFamily="34" charset="-120"/>
              </a:rPr>
              <a:t>. 8th edn. Harlow: Pearson.</a:t>
            </a:r>
            <a:endParaRPr lang="en-US" sz="1200" dirty="0"/>
          </a:p>
        </p:txBody>
      </p:sp>
      <p:sp>
        <p:nvSpPr>
          <p:cNvPr id="11" name="Text 9"/>
          <p:cNvSpPr/>
          <p:nvPr/>
        </p:nvSpPr>
        <p:spPr>
          <a:xfrm>
            <a:off x="6248400" y="3390900"/>
            <a:ext cx="52847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Senaratna, N. et al. (2026) ‘Sri Lanka document datasets: a large-scale, multilingual resource for law, news, and policy’.</a:t>
            </a:r>
            <a:endParaRPr lang="en-US" sz="1200" dirty="0"/>
          </a:p>
        </p:txBody>
      </p:sp>
      <p:sp>
        <p:nvSpPr>
          <p:cNvPr id="12" name="Text 10"/>
          <p:cNvSpPr/>
          <p:nvPr/>
        </p:nvSpPr>
        <p:spPr>
          <a:xfrm>
            <a:off x="6248400" y="3903985"/>
            <a:ext cx="5284724"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3A4D"/>
                </a:solidFill>
                <a:latin typeface="IBM Plex Sans" pitchFamily="34" charset="0"/>
                <a:ea typeface="IBM Plex Sans" pitchFamily="34" charset="-122"/>
                <a:cs typeface="IBM Plex Sans" pitchFamily="34" charset="-120"/>
              </a:rPr>
              <a:t>Tuggener, D., von Däniken, P., Peetz, T. and Cieliebak, M. (2020) ‘LEDGAR: a large-scale multi-label corpus for text classification of legal provisions in contracts’, </a:t>
            </a:r>
            <a:r>
              <a:rPr lang="en-US" sz="1200" i="1" dirty="0">
                <a:solidFill>
                  <a:srgbClr val="2F3A4D"/>
                </a:solidFill>
                <a:latin typeface="IBM Plex Sans" pitchFamily="34" charset="0"/>
                <a:ea typeface="IBM Plex Sans" pitchFamily="34" charset="-122"/>
                <a:cs typeface="IBM Plex Sans" pitchFamily="34" charset="-120"/>
              </a:rPr>
              <a:t>LREC 2020</a:t>
            </a:r>
            <a:r>
              <a:rPr lang="en-US" sz="1200" dirty="0">
                <a:solidFill>
                  <a:srgbClr val="2F3A4D"/>
                </a:solidFill>
                <a:latin typeface="IBM Plex Sans" pitchFamily="34" charset="0"/>
                <a:ea typeface="IBM Plex Sans" pitchFamily="34" charset="-122"/>
                <a:cs typeface="IBM Plex Sans" pitchFamily="34" charset="-120"/>
              </a:rPr>
              <a:t>.</a:t>
            </a:r>
            <a:endParaRPr lang="en-US" sz="1200" dirty="0"/>
          </a:p>
        </p:txBody>
      </p:sp>
      <p:sp>
        <p:nvSpPr>
          <p:cNvPr id="13" name="Text 1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theme/theme1.xml><?xml version="1.0" encoding="utf-8"?>
<a:theme xmlns:a="http://schemas.openxmlformats.org/drawingml/2006/main" name="FYP Project Proposal - Explainable AI for Temporal Legal Contract Compliance Mon">
  <a:themeElements>
    <a:clrScheme name="FYP Project Proposal - Explainable AI for Temporal Legal Contract Compliance Mon">
      <a:dk1>
        <a:srgbClr val="12203A"/>
      </a:dk1>
      <a:lt1>
        <a:srgbClr val="F6F2E9"/>
      </a:lt1>
      <a:dk2>
        <a:srgbClr val="4B5566"/>
      </a:dk2>
      <a:lt2>
        <a:srgbClr val="DFDDD8"/>
      </a:lt2>
      <a:accent1>
        <a:srgbClr val="1F6F6B"/>
      </a:accent1>
      <a:accent2>
        <a:srgbClr val="E0B25A"/>
      </a:accent2>
      <a:accent3>
        <a:srgbClr val="2F3A4D"/>
      </a:accent3>
      <a:accent4>
        <a:srgbClr val="5B6575"/>
      </a:accent4>
      <a:accent5>
        <a:srgbClr val="C9D2E0"/>
      </a:accent5>
      <a:accent6>
        <a:srgbClr val="9AA0A6"/>
      </a:accent6>
      <a:hlink>
        <a:srgbClr val="0563C1"/>
      </a:hlink>
      <a:folHlink>
        <a:srgbClr val="954F72"/>
      </a:folHlink>
    </a:clrScheme>
    <a:fontScheme name="FYP Project Proposal - Explainable AI for Temporal Legal Contract Compliance M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 Project Proposal - Explainable AI for Temporal Legal Contract Compliance Monitoring</dc:title>
  <dc:subject/>
  <dc:creator/>
  <cp:lastModifiedBy/>
  <cp:revision>1</cp:revision>
  <dcterms:created xsi:type="dcterms:W3CDTF">2026-10-18T19:19:24Z</dcterms:created>
  <dcterms:modified xsi:type="dcterms:W3CDTF">2026-10-18T19:19:24Z</dcterms:modified>
</cp:coreProperties>
</file>